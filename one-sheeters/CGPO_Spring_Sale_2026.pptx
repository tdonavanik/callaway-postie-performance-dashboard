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5"/>
  </p:normalViewPr>
  <p:slideViewPr>
    <p:cSldViewPr snapToGrid="0" snapToObjects="1">
      <p:cViewPr varScale="1">
        <p:scale>
          <a:sx n="101" d="100"/>
          <a:sy n="101" d="100"/>
        </p:scale>
        <p:origin x="90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E6100A-3718-F948-834C-6800560062BB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1EEF39-E27A-5846-B08A-95CF706AB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48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1EEF39-E27A-5846-B08A-95CF706AB1C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078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63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18288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CGPO Spring Sale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71323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5C1"/>
                </a:solidFill>
                <a:latin typeface="Arial"/>
              </a:rPr>
              <a:t>Callaway Golf Pre-Owned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969264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D8D8"/>
                </a:solidFill>
                <a:latin typeface="Arial"/>
              </a:rPr>
              <a:t>Postie CRM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261872"/>
            <a:ext cx="4663440" cy="19050"/>
          </a:xfrm>
          <a:prstGeom prst="rect">
            <a:avLst/>
          </a:prstGeom>
          <a:solidFill>
            <a:srgbClr val="00C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137160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0D8D8"/>
                </a:solidFill>
                <a:latin typeface="Arial"/>
              </a:rPr>
              <a:t>Portfolio iROAS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5C1"/>
                </a:solidFill>
                <a:latin typeface="Arial"/>
              </a:rPr>
              <a:t>8.7x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1368" y="137160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0D8D8"/>
                </a:solidFill>
                <a:latin typeface="Arial"/>
              </a:rPr>
              <a:t>Total Incr. Rev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1368" y="1554480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5C1"/>
                </a:solidFill>
                <a:latin typeface="Arial"/>
              </a:rPr>
              <a:t>$468K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137160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0D8D8"/>
                </a:solidFill>
                <a:latin typeface="Arial"/>
              </a:rPr>
              <a:t>Wtd. CVR Lift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1554480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5C1"/>
                </a:solidFill>
                <a:latin typeface="Arial"/>
              </a:rPr>
              <a:t>+26.3%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2121408"/>
            <a:ext cx="4663440" cy="19050"/>
          </a:xfrm>
          <a:prstGeom prst="rect">
            <a:avLst/>
          </a:prstGeom>
          <a:solidFill>
            <a:srgbClr val="00C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82880" y="2212848"/>
            <a:ext cx="4663440" cy="1133856"/>
          </a:xfrm>
          <a:prstGeom prst="rect">
            <a:avLst/>
          </a:prstGeom>
          <a:solidFill>
            <a:srgbClr val="1C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82880" y="2212848"/>
            <a:ext cx="64008" cy="1133856"/>
          </a:xfrm>
          <a:prstGeom prst="rect">
            <a:avLst/>
          </a:prstGeom>
          <a:solidFill>
            <a:srgbClr val="00C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328" y="2304288"/>
            <a:ext cx="44348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rgbClr val="FFFFFF"/>
                </a:solidFill>
                <a:latin typeface="Arial"/>
              </a:rPr>
              <a:t>CRM </a:t>
            </a:r>
            <a:r>
              <a:rPr sz="900" b="1" i="0" dirty="0">
                <a:solidFill>
                  <a:srgbClr val="FFFFFF"/>
                </a:solidFill>
                <a:latin typeface="Arial"/>
              </a:rPr>
              <a:t>M</a:t>
            </a:r>
            <a:r>
              <a:rPr lang="en-US" sz="900" b="1" i="0" dirty="0">
                <a:solidFill>
                  <a:srgbClr val="FFFFFF"/>
                </a:solidFill>
                <a:latin typeface="Arial"/>
              </a:rPr>
              <a:t>o</a:t>
            </a:r>
            <a:r>
              <a:rPr sz="900" b="1" i="0" dirty="0">
                <a:solidFill>
                  <a:srgbClr val="FFFFFF"/>
                </a:solidFill>
                <a:latin typeface="Arial"/>
              </a:rPr>
              <a:t>d</a:t>
            </a:r>
            <a:r>
              <a:rPr lang="en-US" sz="900" b="1" i="0" dirty="0">
                <a:solidFill>
                  <a:srgbClr val="FFFFFF"/>
                </a:solidFill>
                <a:latin typeface="Arial"/>
              </a:rPr>
              <a:t>e</a:t>
            </a:r>
            <a:r>
              <a:rPr sz="900" b="1" i="0" dirty="0">
                <a:solidFill>
                  <a:srgbClr val="FFFFFF"/>
                </a:solidFill>
                <a:latin typeface="Arial"/>
              </a:rPr>
              <a:t>l</a:t>
            </a:r>
            <a:r>
              <a:rPr lang="en-US" sz="900" b="1" dirty="0">
                <a:solidFill>
                  <a:srgbClr val="FFFFFF"/>
                </a:solidFill>
                <a:latin typeface="Arial"/>
              </a:rPr>
              <a:t>s</a:t>
            </a:r>
            <a:r>
              <a:rPr sz="900" b="1" i="0" dirty="0">
                <a:solidFill>
                  <a:srgbClr val="FFFFFF"/>
                </a:solidFill>
                <a:latin typeface="Arial"/>
              </a:rPr>
              <a:t> 338 &amp; 184 — CVR Lift Drives 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" y="2560320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+63.1% and +49.2% CVR lift with AOV advantage delivered $229K (49% of total incr. rev) at 21.5x and 16.6x iROAS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3438144"/>
            <a:ext cx="4663440" cy="1133856"/>
          </a:xfrm>
          <a:prstGeom prst="rect">
            <a:avLst/>
          </a:prstGeom>
          <a:solidFill>
            <a:srgbClr val="1C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82880" y="3438144"/>
            <a:ext cx="64008" cy="1133856"/>
          </a:xfrm>
          <a:prstGeom prst="rect">
            <a:avLst/>
          </a:prstGeom>
          <a:solidFill>
            <a:srgbClr val="00C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8328" y="3529584"/>
            <a:ext cx="44348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rgbClr val="FFFFFF"/>
                </a:solidFill>
                <a:latin typeface="Arial"/>
              </a:rPr>
              <a:t>CRM </a:t>
            </a:r>
            <a:r>
              <a:rPr sz="900" b="1" i="0" dirty="0">
                <a:solidFill>
                  <a:srgbClr val="FFFFFF"/>
                </a:solidFill>
                <a:latin typeface="Arial"/>
              </a:rPr>
              <a:t>M</a:t>
            </a:r>
            <a:r>
              <a:rPr lang="en-US" sz="900" b="1" i="0" dirty="0">
                <a:solidFill>
                  <a:srgbClr val="FFFFFF"/>
                </a:solidFill>
                <a:latin typeface="Arial"/>
              </a:rPr>
              <a:t>o</a:t>
            </a:r>
            <a:r>
              <a:rPr sz="900" b="1" i="0" dirty="0">
                <a:solidFill>
                  <a:srgbClr val="FFFFFF"/>
                </a:solidFill>
                <a:latin typeface="Arial"/>
              </a:rPr>
              <a:t>d</a:t>
            </a:r>
            <a:r>
              <a:rPr lang="en-US" sz="900" b="1" i="0" dirty="0">
                <a:solidFill>
                  <a:srgbClr val="FFFFFF"/>
                </a:solidFill>
                <a:latin typeface="Arial"/>
              </a:rPr>
              <a:t>e</a:t>
            </a:r>
            <a:r>
              <a:rPr sz="900" b="1" i="0" dirty="0">
                <a:solidFill>
                  <a:srgbClr val="FFFFFF"/>
                </a:solidFill>
                <a:latin typeface="Arial"/>
              </a:rPr>
              <a:t>l</a:t>
            </a:r>
            <a:r>
              <a:rPr lang="en-US" sz="900" b="1" i="0" dirty="0">
                <a:solidFill>
                  <a:srgbClr val="FFFFFF"/>
                </a:solidFill>
                <a:latin typeface="Arial"/>
              </a:rPr>
              <a:t>s</a:t>
            </a:r>
            <a:r>
              <a:rPr sz="900" b="1" i="0" dirty="0">
                <a:solidFill>
                  <a:srgbClr val="FFFFFF"/>
                </a:solidFill>
                <a:latin typeface="Arial"/>
              </a:rPr>
              <a:t> 182 &amp; 276 — AOV Amplifies Lift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" y="3785616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Moderate CVR lift (18–41%) amplified by 3–20% AOV premiums generated $208K combined — order value compounds incremental returns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4663440"/>
            <a:ext cx="4663440" cy="1133856"/>
          </a:xfrm>
          <a:prstGeom prst="rect">
            <a:avLst/>
          </a:prstGeom>
          <a:solidFill>
            <a:srgbClr val="1C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82880" y="4663440"/>
            <a:ext cx="64008" cy="1133856"/>
          </a:xfrm>
          <a:prstGeom prst="rect">
            <a:avLst/>
          </a:prstGeom>
          <a:solidFill>
            <a:srgbClr val="F0B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8328" y="4754880"/>
            <a:ext cx="44348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rgbClr val="FFFFFF"/>
                </a:solidFill>
                <a:latin typeface="Arial"/>
              </a:rPr>
              <a:t>CRM </a:t>
            </a:r>
            <a:r>
              <a:rPr sz="900" b="1" i="0" dirty="0">
                <a:solidFill>
                  <a:srgbClr val="FFFFFF"/>
                </a:solidFill>
                <a:latin typeface="Arial"/>
              </a:rPr>
              <a:t>M</a:t>
            </a:r>
            <a:r>
              <a:rPr lang="en-US" sz="900" b="1" i="0" dirty="0">
                <a:solidFill>
                  <a:srgbClr val="FFFFFF"/>
                </a:solidFill>
                <a:latin typeface="Arial"/>
              </a:rPr>
              <a:t>o</a:t>
            </a:r>
            <a:r>
              <a:rPr sz="900" b="1" i="0" dirty="0">
                <a:solidFill>
                  <a:srgbClr val="FFFFFF"/>
                </a:solidFill>
                <a:latin typeface="Arial"/>
              </a:rPr>
              <a:t>d</a:t>
            </a:r>
            <a:r>
              <a:rPr lang="en-US" sz="900" b="1" i="0" dirty="0">
                <a:solidFill>
                  <a:srgbClr val="FFFFFF"/>
                </a:solidFill>
                <a:latin typeface="Arial"/>
              </a:rPr>
              <a:t>e</a:t>
            </a:r>
            <a:r>
              <a:rPr sz="900" b="1" i="0" dirty="0">
                <a:solidFill>
                  <a:srgbClr val="FFFFFF"/>
                </a:solidFill>
                <a:latin typeface="Arial"/>
              </a:rPr>
              <a:t>l</a:t>
            </a:r>
            <a:r>
              <a:rPr lang="en-US" sz="900" b="1" i="0" dirty="0">
                <a:solidFill>
                  <a:srgbClr val="FFFFFF"/>
                </a:solidFill>
                <a:latin typeface="Arial"/>
              </a:rPr>
              <a:t>s</a:t>
            </a:r>
            <a:r>
              <a:rPr sz="900" b="1" i="0" dirty="0">
                <a:solidFill>
                  <a:srgbClr val="FFFFFF"/>
                </a:solidFill>
                <a:latin typeface="Arial"/>
              </a:rPr>
              <a:t> 392, 394 &amp; 72 — CVR or AOV Drag Limits Returns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" y="5010912"/>
            <a:ext cx="44348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rgbClr val="FFFFFF"/>
                </a:solidFill>
                <a:latin typeface="Arial"/>
              </a:rPr>
              <a:t>M</a:t>
            </a:r>
            <a:r>
              <a:rPr lang="en-US" sz="800" b="0" i="0" dirty="0">
                <a:solidFill>
                  <a:srgbClr val="FFFFFF"/>
                </a:solidFill>
                <a:latin typeface="Arial"/>
              </a:rPr>
              <a:t>o</a:t>
            </a:r>
            <a:r>
              <a:rPr sz="800" b="0" i="0" dirty="0">
                <a:solidFill>
                  <a:srgbClr val="FFFFFF"/>
                </a:solidFill>
                <a:latin typeface="Arial"/>
              </a:rPr>
              <a:t>d</a:t>
            </a:r>
            <a:r>
              <a:rPr lang="en-US" sz="800" b="0" i="0" dirty="0">
                <a:solidFill>
                  <a:srgbClr val="FFFFFF"/>
                </a:solidFill>
                <a:latin typeface="Arial"/>
              </a:rPr>
              <a:t>e</a:t>
            </a:r>
            <a:r>
              <a:rPr sz="800" b="0" i="0" dirty="0">
                <a:solidFill>
                  <a:srgbClr val="FFFFFF"/>
                </a:solidFill>
                <a:latin typeface="Arial"/>
              </a:rPr>
              <a:t>l 392: +46% CVR lift but −25% AOV vs. holdout → 3.5x </a:t>
            </a:r>
            <a:r>
              <a:rPr sz="800" b="0" i="0" dirty="0" err="1">
                <a:solidFill>
                  <a:srgbClr val="FFFFFF"/>
                </a:solidFill>
                <a:latin typeface="Arial"/>
              </a:rPr>
              <a:t>iROAS</a:t>
            </a:r>
            <a:r>
              <a:rPr sz="800" b="0" i="0" dirty="0">
                <a:solidFill>
                  <a:srgbClr val="FFFFFF"/>
                </a:solidFill>
                <a:latin typeface="Arial"/>
              </a:rPr>
              <a:t>. </a:t>
            </a:r>
            <a:endParaRPr lang="en-US" sz="800" b="0" i="0" dirty="0">
              <a:solidFill>
                <a:srgbClr val="FFFFFF"/>
              </a:solidFill>
              <a:latin typeface="Arial"/>
            </a:endParaRPr>
          </a:p>
          <a:p>
            <a:pPr algn="l"/>
            <a:r>
              <a:rPr sz="800" b="0" i="0" dirty="0">
                <a:solidFill>
                  <a:srgbClr val="FFFFFF"/>
                </a:solidFill>
                <a:latin typeface="Arial"/>
              </a:rPr>
              <a:t>M</a:t>
            </a:r>
            <a:r>
              <a:rPr lang="en-US" sz="800" b="0" i="0" dirty="0">
                <a:solidFill>
                  <a:srgbClr val="FFFFFF"/>
                </a:solidFill>
                <a:latin typeface="Arial"/>
              </a:rPr>
              <a:t>o</a:t>
            </a:r>
            <a:r>
              <a:rPr sz="800" b="0" i="0" dirty="0">
                <a:solidFill>
                  <a:srgbClr val="FFFFFF"/>
                </a:solidFill>
                <a:latin typeface="Arial"/>
              </a:rPr>
              <a:t>d</a:t>
            </a:r>
            <a:r>
              <a:rPr lang="en-US" sz="800" b="0" i="0" dirty="0">
                <a:solidFill>
                  <a:srgbClr val="FFFFFF"/>
                </a:solidFill>
                <a:latin typeface="Arial"/>
              </a:rPr>
              <a:t>e</a:t>
            </a:r>
            <a:r>
              <a:rPr sz="800" b="0" i="0" dirty="0">
                <a:solidFill>
                  <a:srgbClr val="FFFFFF"/>
                </a:solidFill>
                <a:latin typeface="Arial"/>
              </a:rPr>
              <a:t>l 394: low lift (+9%), neutral AOV → 2.7x.</a:t>
            </a:r>
            <a:endParaRPr lang="en-US" sz="800" b="0" i="0" dirty="0">
              <a:solidFill>
                <a:srgbClr val="FFFFFF"/>
              </a:solidFill>
              <a:latin typeface="Arial"/>
            </a:endParaRPr>
          </a:p>
          <a:p>
            <a:pPr algn="l"/>
            <a:r>
              <a:rPr sz="800" b="0" i="0" dirty="0">
                <a:solidFill>
                  <a:srgbClr val="FFFFFF"/>
                </a:solidFill>
                <a:latin typeface="Arial"/>
              </a:rPr>
              <a:t>M</a:t>
            </a:r>
            <a:r>
              <a:rPr lang="en-US" sz="800" b="0" i="0" dirty="0">
                <a:solidFill>
                  <a:srgbClr val="FFFFFF"/>
                </a:solidFill>
                <a:latin typeface="Arial"/>
              </a:rPr>
              <a:t>o</a:t>
            </a:r>
            <a:r>
              <a:rPr sz="800" b="0" i="0" dirty="0">
                <a:solidFill>
                  <a:srgbClr val="FFFFFF"/>
                </a:solidFill>
                <a:latin typeface="Arial"/>
              </a:rPr>
              <a:t>d</a:t>
            </a:r>
            <a:r>
              <a:rPr lang="en-US" sz="800" b="0" i="0" dirty="0">
                <a:solidFill>
                  <a:srgbClr val="FFFFFF"/>
                </a:solidFill>
                <a:latin typeface="Arial"/>
              </a:rPr>
              <a:t>e</a:t>
            </a:r>
            <a:r>
              <a:rPr sz="800" b="0" i="0" dirty="0">
                <a:solidFill>
                  <a:srgbClr val="FFFFFF"/>
                </a:solidFill>
                <a:latin typeface="Arial"/>
              </a:rPr>
              <a:t>l 72: negative CVR lift (−6%)</a:t>
            </a:r>
            <a:r>
              <a:rPr lang="en-US" sz="800" b="0" i="0" dirty="0">
                <a:solidFill>
                  <a:srgbClr val="FFFFFF"/>
                </a:solidFill>
                <a:latin typeface="Arial"/>
              </a:rPr>
              <a:t>, neutral AOV</a:t>
            </a:r>
            <a:r>
              <a:rPr sz="800" b="0" i="0" dirty="0">
                <a:solidFill>
                  <a:srgbClr val="FFFFFF"/>
                </a:solidFill>
                <a:latin typeface="Arial"/>
              </a:rPr>
              <a:t> → −0.2x. </a:t>
            </a:r>
            <a:endParaRPr lang="en-US" sz="800" b="0" i="0" dirty="0">
              <a:solidFill>
                <a:srgbClr val="FFFFFF"/>
              </a:solidFill>
              <a:latin typeface="Arial"/>
            </a:endParaRPr>
          </a:p>
          <a:p>
            <a:pPr algn="l"/>
            <a:r>
              <a:rPr sz="800" b="0" i="0" dirty="0">
                <a:solidFill>
                  <a:srgbClr val="FFFFFF"/>
                </a:solidFill>
                <a:latin typeface="Arial"/>
              </a:rPr>
              <a:t>Each shows a distinct path </a:t>
            </a:r>
            <a:r>
              <a:rPr lang="en-US" sz="800" dirty="0">
                <a:solidFill>
                  <a:srgbClr val="FFFFFF"/>
                </a:solidFill>
                <a:latin typeface="Arial"/>
              </a:rPr>
              <a:t>and</a:t>
            </a:r>
            <a:r>
              <a:rPr sz="800" b="0" i="0" dirty="0">
                <a:solidFill>
                  <a:srgbClr val="FFFFFF"/>
                </a:solidFill>
                <a:latin typeface="Arial"/>
              </a:rPr>
              <a:t> underperform</a:t>
            </a:r>
            <a:r>
              <a:rPr lang="en-US" sz="800" b="0" i="0" dirty="0">
                <a:solidFill>
                  <a:srgbClr val="FFFFFF"/>
                </a:solidFill>
                <a:latin typeface="Arial"/>
              </a:rPr>
              <a:t>ed compared to other models.</a:t>
            </a:r>
            <a:endParaRPr sz="8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82880" y="6446520"/>
            <a:ext cx="4663440" cy="192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 dirty="0">
                <a:solidFill>
                  <a:srgbClr val="5A7A8A"/>
                </a:solidFill>
                <a:latin typeface="Arial"/>
              </a:rPr>
              <a:t>Spend: $53,800   |   Reach: 100K   |   </a:t>
            </a:r>
            <a:r>
              <a:rPr lang="en-US" sz="650" dirty="0">
                <a:solidFill>
                  <a:srgbClr val="5A7A8A"/>
                </a:solidFill>
                <a:latin typeface="Arial"/>
              </a:rPr>
              <a:t>45</a:t>
            </a:r>
            <a:r>
              <a:rPr sz="650" b="0" i="0" dirty="0">
                <a:solidFill>
                  <a:srgbClr val="5A7A8A"/>
                </a:solidFill>
                <a:latin typeface="Arial"/>
              </a:rPr>
              <a:t>-day attribution  |  Campaign: </a:t>
            </a:r>
            <a:r>
              <a:rPr sz="650" b="0" i="0" dirty="0" err="1">
                <a:solidFill>
                  <a:srgbClr val="5A7A8A"/>
                </a:solidFill>
                <a:latin typeface="Arial"/>
              </a:rPr>
              <a:t>qkARQNEM</a:t>
            </a:r>
            <a:endParaRPr sz="650" b="0" i="0" dirty="0">
              <a:solidFill>
                <a:srgbClr val="5A7A8A"/>
              </a:solidFill>
              <a:latin typeface="Arial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892040" y="0"/>
            <a:ext cx="729691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0" y="164592"/>
            <a:ext cx="7086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3D5D"/>
                </a:solidFill>
                <a:latin typeface="Arial"/>
              </a:rPr>
              <a:t>Audience Performance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45056"/>
              </p:ext>
            </p:extLst>
          </p:nvPr>
        </p:nvGraphicFramePr>
        <p:xfrm>
          <a:off x="5029200" y="594360"/>
          <a:ext cx="6976868" cy="5989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3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68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2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52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52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0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02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02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FFFFFF"/>
                          </a:solidFill>
                          <a:latin typeface="Arial"/>
                        </a:rPr>
                        <a:t>General </a:t>
                      </a: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  <a:endParaRPr sz="10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163D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Config</a:t>
                      </a:r>
                    </a:p>
                  </a:txBody>
                  <a:tcPr>
                    <a:solidFill>
                      <a:srgbClr val="163D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CVR Lift</a:t>
                      </a:r>
                    </a:p>
                  </a:txBody>
                  <a:tcPr>
                    <a:solidFill>
                      <a:srgbClr val="163D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Test AOV</a:t>
                      </a:r>
                    </a:p>
                  </a:txBody>
                  <a:tcPr>
                    <a:solidFill>
                      <a:srgbClr val="163D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Ctrl AOV</a:t>
                      </a:r>
                    </a:p>
                  </a:txBody>
                  <a:tcPr>
                    <a:solidFill>
                      <a:srgbClr val="163D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AOV Δ</a:t>
                      </a:r>
                    </a:p>
                  </a:txBody>
                  <a:tcPr>
                    <a:solidFill>
                      <a:srgbClr val="163D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iROAS</a:t>
                      </a:r>
                    </a:p>
                  </a:txBody>
                  <a:tcPr>
                    <a:solidFill>
                      <a:srgbClr val="163D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Incr. Rev</a:t>
                      </a:r>
                    </a:p>
                  </a:txBody>
                  <a:tcPr>
                    <a:solidFill>
                      <a:srgbClr val="163D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7390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FFFFFF"/>
                          </a:solidFill>
                          <a:latin typeface="Arial"/>
                        </a:rPr>
                        <a:t>CRM </a:t>
                      </a:r>
                      <a:r>
                        <a:rPr sz="1000" b="0" dirty="0">
                          <a:solidFill>
                            <a:srgbClr val="FFFFFF"/>
                          </a:solidFill>
                          <a:latin typeface="Arial"/>
                        </a:rPr>
                        <a:t>M</a:t>
                      </a:r>
                      <a:r>
                        <a:rPr lang="en-US" sz="1000" b="0" dirty="0">
                          <a:solidFill>
                            <a:srgbClr val="FFFFFF"/>
                          </a:solidFill>
                          <a:latin typeface="Arial"/>
                        </a:rPr>
                        <a:t>o</a:t>
                      </a:r>
                      <a:r>
                        <a:rPr sz="1000" b="0" dirty="0">
                          <a:solidFill>
                            <a:srgbClr val="FFFFFF"/>
                          </a:solidFill>
                          <a:latin typeface="Arial"/>
                        </a:rPr>
                        <a:t>d</a:t>
                      </a:r>
                      <a:r>
                        <a:rPr lang="en-US" sz="1000" b="0" dirty="0">
                          <a:solidFill>
                            <a:srgbClr val="FFFFFF"/>
                          </a:solidFill>
                          <a:latin typeface="Arial"/>
                        </a:rPr>
                        <a:t>e</a:t>
                      </a:r>
                      <a:r>
                        <a:rPr sz="1000" b="0" dirty="0">
                          <a:solidFill>
                            <a:srgbClr val="FFFFFF"/>
                          </a:solidFill>
                          <a:latin typeface="Arial"/>
                        </a:rPr>
                        <a:t>l 338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4E·20K·10S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+63.1%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$282.50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$232.50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+21.5%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21.5x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$129K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7390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FFFFFF"/>
                          </a:solidFill>
                          <a:latin typeface="Arial"/>
                        </a:rPr>
                        <a:t>CRM </a:t>
                      </a:r>
                      <a:r>
                        <a:rPr sz="1000" b="0" dirty="0">
                          <a:solidFill>
                            <a:srgbClr val="FFFFFF"/>
                          </a:solidFill>
                          <a:latin typeface="Arial"/>
                        </a:rPr>
                        <a:t>M</a:t>
                      </a:r>
                      <a:r>
                        <a:rPr lang="en-US" sz="1000" b="0" dirty="0">
                          <a:solidFill>
                            <a:srgbClr val="FFFFFF"/>
                          </a:solidFill>
                          <a:latin typeface="Arial"/>
                        </a:rPr>
                        <a:t>o</a:t>
                      </a:r>
                      <a:r>
                        <a:rPr sz="1000" b="0" dirty="0">
                          <a:solidFill>
                            <a:srgbClr val="FFFFFF"/>
                          </a:solidFill>
                          <a:latin typeface="Arial"/>
                        </a:rPr>
                        <a:t>d</a:t>
                      </a:r>
                      <a:r>
                        <a:rPr lang="en-US" sz="1000" b="0" dirty="0">
                          <a:solidFill>
                            <a:srgbClr val="FFFFFF"/>
                          </a:solidFill>
                          <a:latin typeface="Arial"/>
                        </a:rPr>
                        <a:t>e</a:t>
                      </a:r>
                      <a:r>
                        <a:rPr sz="1000" b="0" dirty="0">
                          <a:solidFill>
                            <a:srgbClr val="FFFFFF"/>
                          </a:solidFill>
                          <a:latin typeface="Arial"/>
                        </a:rPr>
                        <a:t>l 184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6E·20K·5S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+49.2%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$237.65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$216.68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+9.7%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16.6x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$100K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7390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FFFFFF"/>
                          </a:solidFill>
                          <a:latin typeface="Arial"/>
                        </a:rPr>
                        <a:t>CRM </a:t>
                      </a:r>
                      <a:r>
                        <a:rPr sz="1000" b="0" dirty="0">
                          <a:solidFill>
                            <a:srgbClr val="FFFFFF"/>
                          </a:solidFill>
                          <a:latin typeface="Arial"/>
                        </a:rPr>
                        <a:t>M</a:t>
                      </a:r>
                      <a:r>
                        <a:rPr lang="en-US" sz="1000" b="0" dirty="0">
                          <a:solidFill>
                            <a:srgbClr val="FFFFFF"/>
                          </a:solidFill>
                          <a:latin typeface="Arial"/>
                        </a:rPr>
                        <a:t>o</a:t>
                      </a:r>
                      <a:r>
                        <a:rPr sz="1000" b="0" dirty="0">
                          <a:solidFill>
                            <a:srgbClr val="FFFFFF"/>
                          </a:solidFill>
                          <a:latin typeface="Arial"/>
                        </a:rPr>
                        <a:t>d</a:t>
                      </a:r>
                      <a:r>
                        <a:rPr lang="en-US" sz="1000" b="0" dirty="0">
                          <a:solidFill>
                            <a:srgbClr val="FFFFFF"/>
                          </a:solidFill>
                          <a:latin typeface="Arial"/>
                        </a:rPr>
                        <a:t>e</a:t>
                      </a:r>
                      <a:r>
                        <a:rPr sz="1000" b="0" dirty="0">
                          <a:solidFill>
                            <a:srgbClr val="FFFFFF"/>
                          </a:solidFill>
                          <a:latin typeface="Arial"/>
                        </a:rPr>
                        <a:t>l 182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4E·20K·5S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+41.2%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$225.80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$218.16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+3.5%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11.5x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$139K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7390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CRM 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M</a:t>
                      </a:r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o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d</a:t>
                      </a:r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e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l 276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2E·20K·10S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+18.0%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$257.07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$214.88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+19.6%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7.6x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$69K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7390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CRM 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M</a:t>
                      </a:r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o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d</a:t>
                      </a:r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e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l 392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4E·10K·5S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+45.6%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$210.04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$278.27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-24.5%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3.5x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7390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CRM 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M</a:t>
                      </a:r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o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d</a:t>
                      </a:r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e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l 394</a:t>
                      </a:r>
                    </a:p>
                  </a:txBody>
                  <a:tcPr>
                    <a:solidFill>
                      <a:srgbClr val="EA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4E·10K·2S</a:t>
                      </a:r>
                    </a:p>
                  </a:txBody>
                  <a:tcPr>
                    <a:solidFill>
                      <a:srgbClr val="EA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+9.2%</a:t>
                      </a:r>
                    </a:p>
                  </a:txBody>
                  <a:tcPr>
                    <a:solidFill>
                      <a:srgbClr val="EA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$226.49</a:t>
                      </a:r>
                    </a:p>
                  </a:txBody>
                  <a:tcPr>
                    <a:solidFill>
                      <a:srgbClr val="EA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$218.84</a:t>
                      </a:r>
                    </a:p>
                  </a:txBody>
                  <a:tcPr>
                    <a:solidFill>
                      <a:srgbClr val="EA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+3.5%</a:t>
                      </a:r>
                    </a:p>
                  </a:txBody>
                  <a:tcPr>
                    <a:solidFill>
                      <a:srgbClr val="EA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2.7x</a:t>
                      </a:r>
                    </a:p>
                  </a:txBody>
                  <a:tcPr>
                    <a:solidFill>
                      <a:srgbClr val="EA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$24K</a:t>
                      </a:r>
                    </a:p>
                  </a:txBody>
                  <a:tcPr>
                    <a:solidFill>
                      <a:srgbClr val="EA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07390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CRM 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M</a:t>
                      </a:r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o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d</a:t>
                      </a:r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e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l 72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4E·20K·2S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-6.4%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$241.81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$228.63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+5.8%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-0.2x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-$2K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0739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>
                    <a:solidFill>
                      <a:srgbClr val="1E4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/>
                    </a:p>
                  </a:txBody>
                  <a:tcPr>
                    <a:solidFill>
                      <a:srgbClr val="1E47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+26.3%</a:t>
                      </a:r>
                    </a:p>
                  </a:txBody>
                  <a:tcPr>
                    <a:solidFill>
                      <a:srgbClr val="1E47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$239.77</a:t>
                      </a:r>
                    </a:p>
                  </a:txBody>
                  <a:tcPr>
                    <a:solidFill>
                      <a:srgbClr val="1E47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$231.32</a:t>
                      </a:r>
                    </a:p>
                  </a:txBody>
                  <a:tcPr>
                    <a:solidFill>
                      <a:srgbClr val="1E47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+3.7%</a:t>
                      </a:r>
                    </a:p>
                  </a:txBody>
                  <a:tcPr>
                    <a:solidFill>
                      <a:srgbClr val="1E47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8.7x</a:t>
                      </a:r>
                    </a:p>
                  </a:txBody>
                  <a:tcPr>
                    <a:solidFill>
                      <a:srgbClr val="1E47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Arial"/>
                        </a:rPr>
                        <a:t>$468K</a:t>
                      </a:r>
                    </a:p>
                  </a:txBody>
                  <a:tcPr>
                    <a:solidFill>
                      <a:srgbClr val="1E47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63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731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5C1"/>
                </a:solidFill>
                <a:latin typeface="Arial"/>
              </a:rPr>
              <a:t>iROAS is driven by BOTH CVR Lift AND AOV advantage — not just conversion rate alone.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C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11823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63D5D"/>
                </a:solidFill>
                <a:latin typeface="Arial"/>
              </a:rPr>
              <a:t>Campaign: qkARQNEM   |   Data pulled: 2026-07-07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" y="822960"/>
            <a:ext cx="5820156" cy="5678424"/>
          </a:xfrm>
          <a:prstGeom prst="rect">
            <a:avLst/>
          </a:prstGeom>
          <a:solidFill>
            <a:srgbClr val="163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932688"/>
            <a:ext cx="55458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5C1"/>
                </a:solidFill>
                <a:latin typeface="Arial"/>
              </a:rPr>
              <a:t>What the Model Configurations Mean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" y="1335024"/>
            <a:ext cx="54864" cy="128016"/>
          </a:xfrm>
          <a:prstGeom prst="rect">
            <a:avLst/>
          </a:prstGeom>
          <a:solidFill>
            <a:srgbClr val="00C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" y="1298448"/>
            <a:ext cx="55001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5C1"/>
                </a:solidFill>
                <a:latin typeface="Arial"/>
              </a:rPr>
              <a:t>▸ Epochs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1499616"/>
            <a:ext cx="55001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0D8D8"/>
                </a:solidFill>
                <a:latin typeface="Arial"/>
              </a:rPr>
              <a:t>How much the model relies on proven strategies vs. exploring new ones.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1691640"/>
            <a:ext cx="55001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rial"/>
              </a:rPr>
              <a:t>Higher epochs: leans on what’s worked. Safer, more predictable.
Lower epochs: more room to explore. Higher risk, higher reward.
Think of it like a restaurant menu: serve your bestsellers, or reserve space for new dishes.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" y="2505456"/>
            <a:ext cx="54864" cy="128016"/>
          </a:xfrm>
          <a:prstGeom prst="rect">
            <a:avLst/>
          </a:prstGeom>
          <a:solidFill>
            <a:srgbClr val="00C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328" y="2468880"/>
            <a:ext cx="55001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5C1"/>
                </a:solidFill>
                <a:latin typeface="Arial"/>
              </a:rPr>
              <a:t>▸ Step 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" y="2670048"/>
            <a:ext cx="55001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0D8D8"/>
                </a:solidFill>
                <a:latin typeface="Arial"/>
              </a:rPr>
              <a:t>How finely the model slices time when linking mail to results.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" y="2862072"/>
            <a:ext cx="55001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rial"/>
              </a:rPr>
              <a:t>Smaller step: larger time windows (e.g., weeks). Easier to connect mail to response.
Larger step: shorter windows (days). More granular, but harder to see the full picture.
Think of it like zooming a camera: zoomed out shows the big picture; zoomed in shows detail but loses context.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" y="3675888"/>
            <a:ext cx="54864" cy="128016"/>
          </a:xfrm>
          <a:prstGeom prst="rect">
            <a:avLst/>
          </a:prstGeom>
          <a:solidFill>
            <a:srgbClr val="00C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8328" y="3639312"/>
            <a:ext cx="55001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5C1"/>
                </a:solidFill>
                <a:latin typeface="Arial"/>
              </a:rPr>
              <a:t>▸ Iterations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" y="3840480"/>
            <a:ext cx="55001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0D8D8"/>
                </a:solidFill>
                <a:latin typeface="Arial"/>
              </a:rPr>
              <a:t>How many practice rounds the model runs through your mailing history.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" y="4032504"/>
            <a:ext cx="55001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rial"/>
              </a:rPr>
              <a:t>More iterations = more chances to find meaningful patterns. Too many = over-tuned to past results.
Epochs control what the model focuses on; iterations control how much it practices.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822960"/>
            <a:ext cx="5820156" cy="56784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96228" y="932688"/>
            <a:ext cx="55001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3D5D"/>
                </a:solidFill>
                <a:latin typeface="Arial"/>
              </a:rPr>
              <a:t>New Configurations Revealed the Winning Formula — and Where to Refine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6228" y="1298448"/>
            <a:ext cx="5500116" cy="3100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1E4768"/>
                </a:solidFill>
                <a:latin typeface="Arial"/>
              </a:rPr>
              <a:t>Spring 2026 introduced four new configurations alongside three carried from Winter — providing the clearest read yet on what drives </a:t>
            </a:r>
            <a:r>
              <a:rPr sz="850" b="0" i="0" dirty="0" err="1">
                <a:solidFill>
                  <a:srgbClr val="1E4768"/>
                </a:solidFill>
                <a:latin typeface="Arial"/>
              </a:rPr>
              <a:t>iROAS</a:t>
            </a:r>
            <a:r>
              <a:rPr sz="850" b="0" i="0" dirty="0">
                <a:solidFill>
                  <a:srgbClr val="1E4768"/>
                </a:solidFill>
                <a:latin typeface="Arial"/>
              </a:rPr>
              <a:t> for this audience.
</a:t>
            </a:r>
            <a:r>
              <a:rPr sz="850" b="1" i="0" dirty="0">
                <a:solidFill>
                  <a:srgbClr val="1E4768"/>
                </a:solidFill>
                <a:latin typeface="Arial"/>
              </a:rPr>
              <a:t>What paid off: </a:t>
            </a:r>
            <a:r>
              <a:rPr sz="850" b="0" i="0" dirty="0">
                <a:solidFill>
                  <a:srgbClr val="1E4768"/>
                </a:solidFill>
                <a:latin typeface="Arial"/>
              </a:rPr>
              <a:t>Both new 20K iteration configs achieved strong CVR + AOV balance. </a:t>
            </a:r>
            <a:endParaRPr lang="en-US" sz="850" b="0" i="0" dirty="0">
              <a:solidFill>
                <a:srgbClr val="1E4768"/>
              </a:solidFill>
              <a:latin typeface="Arial"/>
            </a:endParaRPr>
          </a:p>
          <a:p>
            <a:pPr algn="l"/>
            <a:endParaRPr lang="en-US" sz="850" b="0" i="0" dirty="0">
              <a:solidFill>
                <a:srgbClr val="1E4768"/>
              </a:solidFill>
              <a:latin typeface="Arial"/>
            </a:endParaRPr>
          </a:p>
          <a:p>
            <a:pPr algn="l"/>
            <a:r>
              <a:rPr sz="850" b="0" i="0" dirty="0">
                <a:solidFill>
                  <a:srgbClr val="1E4768"/>
                </a:solidFill>
                <a:latin typeface="Arial"/>
              </a:rPr>
              <a:t>M</a:t>
            </a:r>
            <a:r>
              <a:rPr lang="en-US" sz="850" b="0" i="0" dirty="0">
                <a:solidFill>
                  <a:srgbClr val="1E4768"/>
                </a:solidFill>
                <a:latin typeface="Arial"/>
              </a:rPr>
              <a:t>o</a:t>
            </a:r>
            <a:r>
              <a:rPr sz="850" b="0" i="0" dirty="0">
                <a:solidFill>
                  <a:srgbClr val="1E4768"/>
                </a:solidFill>
                <a:latin typeface="Arial"/>
              </a:rPr>
              <a:t>d</a:t>
            </a:r>
            <a:r>
              <a:rPr lang="en-US" sz="850" b="0" i="0" dirty="0">
                <a:solidFill>
                  <a:srgbClr val="1E4768"/>
                </a:solidFill>
                <a:latin typeface="Arial"/>
              </a:rPr>
              <a:t>e</a:t>
            </a:r>
            <a:r>
              <a:rPr sz="850" b="0" i="0" dirty="0">
                <a:solidFill>
                  <a:srgbClr val="1E4768"/>
                </a:solidFill>
                <a:latin typeface="Arial"/>
              </a:rPr>
              <a:t>l 338 (4E·20K·10S), introduced fresh, delivered the best combination in the campaign: +63% lift with a +21% order value premium → 21.5x </a:t>
            </a:r>
            <a:r>
              <a:rPr sz="850" b="0" i="0" dirty="0" err="1">
                <a:solidFill>
                  <a:srgbClr val="1E4768"/>
                </a:solidFill>
                <a:latin typeface="Arial"/>
              </a:rPr>
              <a:t>iROAS</a:t>
            </a:r>
            <a:r>
              <a:rPr sz="850" b="0" i="0" dirty="0">
                <a:solidFill>
                  <a:srgbClr val="1E4768"/>
                </a:solidFill>
                <a:latin typeface="Arial"/>
              </a:rPr>
              <a:t>. </a:t>
            </a:r>
            <a:endParaRPr lang="en-US" sz="850" b="0" i="0" dirty="0">
              <a:solidFill>
                <a:srgbClr val="1E4768"/>
              </a:solidFill>
              <a:latin typeface="Arial"/>
            </a:endParaRPr>
          </a:p>
          <a:p>
            <a:pPr algn="l"/>
            <a:endParaRPr lang="en-US" sz="850" b="0" i="0" dirty="0">
              <a:solidFill>
                <a:srgbClr val="1E4768"/>
              </a:solidFill>
              <a:latin typeface="Arial"/>
            </a:endParaRPr>
          </a:p>
          <a:p>
            <a:pPr algn="l"/>
            <a:r>
              <a:rPr sz="850" b="0" i="0" dirty="0">
                <a:solidFill>
                  <a:srgbClr val="1E4768"/>
                </a:solidFill>
                <a:latin typeface="Arial"/>
              </a:rPr>
              <a:t>M</a:t>
            </a:r>
            <a:r>
              <a:rPr lang="en-US" sz="850" b="0" i="0" dirty="0">
                <a:solidFill>
                  <a:srgbClr val="1E4768"/>
                </a:solidFill>
                <a:latin typeface="Arial"/>
              </a:rPr>
              <a:t>o</a:t>
            </a:r>
            <a:r>
              <a:rPr sz="850" b="0" i="0" dirty="0">
                <a:solidFill>
                  <a:srgbClr val="1E4768"/>
                </a:solidFill>
                <a:latin typeface="Arial"/>
              </a:rPr>
              <a:t>d</a:t>
            </a:r>
            <a:r>
              <a:rPr lang="en-US" sz="850" b="0" i="0" dirty="0">
                <a:solidFill>
                  <a:srgbClr val="1E4768"/>
                </a:solidFill>
                <a:latin typeface="Arial"/>
              </a:rPr>
              <a:t>e</a:t>
            </a:r>
            <a:r>
              <a:rPr sz="850" b="0" i="0" dirty="0">
                <a:solidFill>
                  <a:srgbClr val="1E4768"/>
                </a:solidFill>
                <a:latin typeface="Arial"/>
              </a:rPr>
              <a:t>l 184 (6E·20K·5S), the first test of a 6-epoch configuration, also performed well — +49% lift and +10% AOV advantage → 16.6x. The pattern holds: 20K iterations give the model enough history to find customers who both convert and spend more.
</a:t>
            </a:r>
            <a:r>
              <a:rPr sz="850" b="1" i="0" dirty="0">
                <a:solidFill>
                  <a:srgbClr val="1E4768"/>
                </a:solidFill>
                <a:latin typeface="Arial"/>
              </a:rPr>
              <a:t>Where results were mixed: </a:t>
            </a:r>
            <a:r>
              <a:rPr sz="850" b="0" i="0" dirty="0">
                <a:solidFill>
                  <a:srgbClr val="1E4768"/>
                </a:solidFill>
                <a:latin typeface="Arial"/>
              </a:rPr>
              <a:t>The two new 10K iteration configs generated CVR lift but didn’t achieve the same AOV balance. </a:t>
            </a:r>
            <a:endParaRPr lang="en-US" sz="850" b="0" i="0" dirty="0">
              <a:solidFill>
                <a:srgbClr val="1E4768"/>
              </a:solidFill>
              <a:latin typeface="Arial"/>
            </a:endParaRPr>
          </a:p>
          <a:p>
            <a:pPr algn="l"/>
            <a:endParaRPr lang="en-US" sz="850" b="0" i="0" dirty="0">
              <a:solidFill>
                <a:srgbClr val="1E4768"/>
              </a:solidFill>
              <a:latin typeface="Arial"/>
            </a:endParaRPr>
          </a:p>
          <a:p>
            <a:pPr algn="l"/>
            <a:r>
              <a:rPr sz="850" b="0" i="0" dirty="0">
                <a:solidFill>
                  <a:srgbClr val="1E4768"/>
                </a:solidFill>
                <a:latin typeface="Arial"/>
              </a:rPr>
              <a:t>M</a:t>
            </a:r>
            <a:r>
              <a:rPr lang="en-US" sz="850" b="0" i="0" dirty="0">
                <a:solidFill>
                  <a:srgbClr val="1E4768"/>
                </a:solidFill>
                <a:latin typeface="Arial"/>
              </a:rPr>
              <a:t>o</a:t>
            </a:r>
            <a:r>
              <a:rPr sz="850" b="0" i="0" dirty="0">
                <a:solidFill>
                  <a:srgbClr val="1E4768"/>
                </a:solidFill>
                <a:latin typeface="Arial"/>
              </a:rPr>
              <a:t>d</a:t>
            </a:r>
            <a:r>
              <a:rPr lang="en-US" sz="850" b="0" i="0" dirty="0">
                <a:solidFill>
                  <a:srgbClr val="1E4768"/>
                </a:solidFill>
                <a:latin typeface="Arial"/>
              </a:rPr>
              <a:t>e</a:t>
            </a:r>
            <a:r>
              <a:rPr sz="850" b="0" i="0" dirty="0">
                <a:solidFill>
                  <a:srgbClr val="1E4768"/>
                </a:solidFill>
                <a:latin typeface="Arial"/>
              </a:rPr>
              <a:t>l 392 drove +46% CVR lift but came with a -25% AOV gap vs. the holdout, limiting </a:t>
            </a:r>
            <a:r>
              <a:rPr sz="850" b="0" i="0" dirty="0" err="1">
                <a:solidFill>
                  <a:srgbClr val="1E4768"/>
                </a:solidFill>
                <a:latin typeface="Arial"/>
              </a:rPr>
              <a:t>iROAS</a:t>
            </a:r>
            <a:r>
              <a:rPr sz="850" b="0" i="0" dirty="0">
                <a:solidFill>
                  <a:srgbClr val="1E4768"/>
                </a:solidFill>
                <a:latin typeface="Arial"/>
              </a:rPr>
              <a:t> to 3.5x. </a:t>
            </a:r>
            <a:endParaRPr lang="en-US" sz="850" b="0" i="0" dirty="0">
              <a:solidFill>
                <a:srgbClr val="1E4768"/>
              </a:solidFill>
              <a:latin typeface="Arial"/>
            </a:endParaRPr>
          </a:p>
          <a:p>
            <a:pPr algn="l"/>
            <a:endParaRPr lang="en-US" sz="850" dirty="0">
              <a:solidFill>
                <a:srgbClr val="1E4768"/>
              </a:solidFill>
              <a:latin typeface="Arial"/>
            </a:endParaRPr>
          </a:p>
          <a:p>
            <a:pPr algn="l"/>
            <a:r>
              <a:rPr sz="850" b="0" i="0" dirty="0">
                <a:solidFill>
                  <a:srgbClr val="1E4768"/>
                </a:solidFill>
                <a:latin typeface="Arial"/>
              </a:rPr>
              <a:t>M</a:t>
            </a:r>
            <a:r>
              <a:rPr lang="en-US" sz="850" b="0" i="0" dirty="0">
                <a:solidFill>
                  <a:srgbClr val="1E4768"/>
                </a:solidFill>
                <a:latin typeface="Arial"/>
              </a:rPr>
              <a:t>o</a:t>
            </a:r>
            <a:r>
              <a:rPr sz="850" b="0" i="0" dirty="0">
                <a:solidFill>
                  <a:srgbClr val="1E4768"/>
                </a:solidFill>
                <a:latin typeface="Arial"/>
              </a:rPr>
              <a:t>d</a:t>
            </a:r>
            <a:r>
              <a:rPr lang="en-US" sz="850" b="0" i="0" dirty="0">
                <a:solidFill>
                  <a:srgbClr val="1E4768"/>
                </a:solidFill>
                <a:latin typeface="Arial"/>
              </a:rPr>
              <a:t>e</a:t>
            </a:r>
            <a:r>
              <a:rPr sz="850" b="0" i="0" dirty="0">
                <a:solidFill>
                  <a:srgbClr val="1E4768"/>
                </a:solidFill>
                <a:latin typeface="Arial"/>
              </a:rPr>
              <a:t>l 72 (4E·20K·2S), a carry-forward from Winter, underperformed here — the 2-step configuration appears less consistent for this audience than 5- or 10-step variants.
</a:t>
            </a:r>
            <a:r>
              <a:rPr sz="850" b="1" i="0" dirty="0">
                <a:solidFill>
                  <a:srgbClr val="1E4768"/>
                </a:solidFill>
                <a:latin typeface="Arial"/>
              </a:rPr>
              <a:t>Recommendation: </a:t>
            </a:r>
            <a:r>
              <a:rPr sz="850" b="0" i="0" dirty="0">
                <a:solidFill>
                  <a:srgbClr val="1E4768"/>
                </a:solidFill>
                <a:latin typeface="Arial"/>
              </a:rPr>
              <a:t>Anchor future campaigns on 20K iteration, 10-step configurations. </a:t>
            </a:r>
            <a:r>
              <a:rPr sz="850" b="0" i="0" dirty="0" err="1">
                <a:solidFill>
                  <a:srgbClr val="1E4768"/>
                </a:solidFill>
                <a:latin typeface="Arial"/>
              </a:rPr>
              <a:t>Mdl</a:t>
            </a:r>
            <a:r>
              <a:rPr sz="850" b="0" i="0" dirty="0">
                <a:solidFill>
                  <a:srgbClr val="1E4768"/>
                </a:solidFill>
                <a:latin typeface="Arial"/>
              </a:rPr>
              <a:t> 338 and </a:t>
            </a:r>
            <a:r>
              <a:rPr sz="850" b="0" i="0" dirty="0" err="1">
                <a:solidFill>
                  <a:srgbClr val="1E4768"/>
                </a:solidFill>
                <a:latin typeface="Arial"/>
              </a:rPr>
              <a:t>Mdl</a:t>
            </a:r>
            <a:r>
              <a:rPr sz="850" b="0" i="0" dirty="0">
                <a:solidFill>
                  <a:srgbClr val="1E4768"/>
                </a:solidFill>
                <a:latin typeface="Arial"/>
              </a:rPr>
              <a:t> 184 are proven — scale both. Continue testing 6-epoch variants. Revisit 10K iteration and 2-step configurations before reintroducing.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39662" y="4425696"/>
            <a:ext cx="5500116" cy="256032"/>
          </a:xfrm>
          <a:prstGeom prst="rect">
            <a:avLst/>
          </a:prstGeom>
          <a:solidFill>
            <a:srgbClr val="163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39662" y="4434965"/>
            <a:ext cx="54269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dirty="0">
                <a:solidFill>
                  <a:srgbClr val="FFFFFF"/>
                </a:solidFill>
                <a:latin typeface="Arial"/>
              </a:rPr>
              <a:t>Campaign Examples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39662" y="4681728"/>
            <a:ext cx="5500116" cy="274320"/>
          </a:xfrm>
          <a:prstGeom prst="rect">
            <a:avLst/>
          </a:prstGeom>
          <a:solidFill>
            <a:srgbClr val="00C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39662" y="4672709"/>
            <a:ext cx="54269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rial"/>
              </a:rPr>
              <a:t>Best:  Mdl 338 (4E·20K·10S) — dual balance: +63% CVR lift + 21% AOV premium → 21.5x iROAS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39662" y="4956048"/>
            <a:ext cx="5500116" cy="292608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39662" y="4947029"/>
            <a:ext cx="54269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 dirty="0">
                <a:solidFill>
                  <a:srgbClr val="1E4768"/>
                </a:solidFill>
                <a:latin typeface="Arial"/>
              </a:rPr>
              <a:t>Note:  </a:t>
            </a:r>
            <a:r>
              <a:rPr sz="750" b="0" i="0" dirty="0" err="1">
                <a:solidFill>
                  <a:srgbClr val="1E4768"/>
                </a:solidFill>
                <a:latin typeface="Arial"/>
              </a:rPr>
              <a:t>Mdl</a:t>
            </a:r>
            <a:r>
              <a:rPr sz="750" b="0" i="0" dirty="0">
                <a:solidFill>
                  <a:srgbClr val="1E4768"/>
                </a:solidFill>
                <a:latin typeface="Arial"/>
              </a:rPr>
              <a:t> 392 (4E·10K·5S) — strong CVR lift (+46%) offset by -25% AOV gap → 3.5x; </a:t>
            </a:r>
            <a:r>
              <a:rPr sz="750" b="0" i="0" dirty="0" err="1">
                <a:solidFill>
                  <a:srgbClr val="1E4768"/>
                </a:solidFill>
                <a:latin typeface="Arial"/>
              </a:rPr>
              <a:t>Mdl</a:t>
            </a:r>
            <a:r>
              <a:rPr sz="750" b="0" i="0" dirty="0">
                <a:solidFill>
                  <a:srgbClr val="1E4768"/>
                </a:solidFill>
                <a:latin typeface="Arial"/>
              </a:rPr>
              <a:t> 72 (4E·20K·2S, carry-forward) → -0.2x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1000</Words>
  <Application>Microsoft Macintosh PowerPoint</Application>
  <PresentationFormat>Custom</PresentationFormat>
  <Paragraphs>117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Tara Donavanik</cp:lastModifiedBy>
  <cp:revision>6</cp:revision>
  <dcterms:created xsi:type="dcterms:W3CDTF">2013-01-27T09:14:16Z</dcterms:created>
  <dcterms:modified xsi:type="dcterms:W3CDTF">2026-10-07T23:12:58Z</dcterms:modified>
  <cp:category/>
</cp:coreProperties>
</file>