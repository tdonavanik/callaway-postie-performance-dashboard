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5"/>
  </p:normalViewPr>
  <p:slideViewPr>
    <p:cSldViewPr snapToGrid="0" snapToObjects="1">
      <p:cViewPr varScale="1">
        <p:scale>
          <a:sx n="101" d="100"/>
          <a:sy n="101" d="100"/>
        </p:scale>
        <p:origin x="9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CGPO Summer Sale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7132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5C1"/>
                </a:solidFill>
                <a:latin typeface="Arial"/>
              </a:rPr>
              <a:t>Callaway Golf Pre-Owned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96926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D8D8"/>
                </a:solidFill>
                <a:latin typeface="Arial"/>
              </a:rPr>
              <a:t>Postie CRM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61872"/>
            <a:ext cx="4663440" cy="1905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Portfolio iROAS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6.94x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Total Incr. Rev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$392K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Wtd. CVR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+72.6%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121408"/>
            <a:ext cx="4663440" cy="1905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2212848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2880" y="2212848"/>
            <a:ext cx="64008" cy="113385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2304288"/>
            <a:ext cx="4434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FFFFFF"/>
                </a:solidFill>
                <a:latin typeface="Arial"/>
              </a:rPr>
              <a:t>CRM 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M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o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e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l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s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 338 &amp; 184 — CVR Lift Drives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560320"/>
            <a:ext cx="4434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Arial"/>
              </a:rPr>
              <a:t>+214.7% and +97.5% lift delivered 71% of total incremental revenue ($278K of $392K)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438144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" y="3438144"/>
            <a:ext cx="64008" cy="113385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" y="3529584"/>
            <a:ext cx="4434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FFFFFF"/>
                </a:solidFill>
                <a:latin typeface="Arial"/>
              </a:rPr>
              <a:t>CRM 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M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o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e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l 399, 400 &amp; 529 — AOV Amplifies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785616"/>
            <a:ext cx="4434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Arial"/>
              </a:rPr>
              <a:t>Modest CVR lift (6–26%) amplified by 17–37% AOV advantage vs. holdout — proving order value compounds incremental returns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663440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2880" y="4663440"/>
            <a:ext cx="64008" cy="1133856"/>
          </a:xfrm>
          <a:prstGeom prst="rect">
            <a:avLst/>
          </a:prstGeom>
          <a:solidFill>
            <a:srgbClr val="F0B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" y="4754880"/>
            <a:ext cx="4434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FFFFFF"/>
                </a:solidFill>
                <a:latin typeface="Arial"/>
              </a:rPr>
              <a:t>CRM 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M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o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e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l 392 — High Lift, AOV Drag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5010912"/>
            <a:ext cx="4434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Arial"/>
              </a:rPr>
              <a:t>+35% CVR lift negated by -21% AOV vs. holdout → 1.1x </a:t>
            </a:r>
            <a:r>
              <a:rPr sz="1000" b="0" i="0" dirty="0" err="1">
                <a:solidFill>
                  <a:srgbClr val="FFFFFF"/>
                </a:solidFill>
                <a:latin typeface="Arial"/>
              </a:rPr>
              <a:t>iROAS</a:t>
            </a:r>
            <a:r>
              <a:rPr sz="1000" b="0" i="0" dirty="0">
                <a:solidFill>
                  <a:srgbClr val="FFFFFF"/>
                </a:solidFill>
                <a:latin typeface="Arial"/>
              </a:rPr>
              <a:t>. Lift alone doesn’t guarantee incremental revenue.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6446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A7A8A"/>
                </a:solidFill>
                <a:latin typeface="Arial"/>
              </a:rPr>
              <a:t>Spend: $56,570   |   Reach: 100K   |   45-day attribution  |  Campaign: ykjlvBOV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0"/>
            <a:ext cx="72969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164592"/>
            <a:ext cx="7086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D5D"/>
                </a:solidFill>
                <a:latin typeface="Arial"/>
              </a:rPr>
              <a:t>Audience Performance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674552"/>
              </p:ext>
            </p:extLst>
          </p:nvPr>
        </p:nvGraphicFramePr>
        <p:xfrm>
          <a:off x="5029200" y="594360"/>
          <a:ext cx="6976868" cy="59893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8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2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</a:rPr>
                        <a:t>General </a:t>
                      </a: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  <a:endParaRPr sz="1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Config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CVR Lift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Test AOV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Ctrl AOV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AOV Δ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iROAS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Incr. Rev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l 338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4E·20K·10S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+214.7%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$219.47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$219.68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-0.1%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18.10x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$154K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l 184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6E·20K·5S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+97.5%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$203.28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$203.83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-0.3%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11.02x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$125K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399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2E·10K·10S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+25.7%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$244.49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$208.48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+17.3%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5.59x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$63K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Mo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400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4E·10K·10S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+4.4%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$312.32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$232.37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+34.4%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2.89x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$24K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8E·10K·5S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$357.91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$268.04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+33.5%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2.07x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8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392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4E·10K·5S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+34.5%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$210.39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$267.21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-21.3%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1.06x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$9K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84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/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+72.6%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$228.29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$229.53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-0.4%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6.94x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$392K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1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5C1"/>
                </a:solidFill>
                <a:latin typeface="Arial"/>
              </a:rPr>
              <a:t>iROAS is driven by BOTH CVR Lift AND AOV advantage — not just conversion rate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63D5D"/>
                </a:solidFill>
                <a:latin typeface="Arial"/>
              </a:rPr>
              <a:t>Campaign: ykjlvBOV   |   Data pulled: 2026-10-05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822960"/>
            <a:ext cx="5820156" cy="5678424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932688"/>
            <a:ext cx="55458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C1"/>
                </a:solidFill>
                <a:latin typeface="Arial"/>
              </a:rPr>
              <a:t>What the Model Configurations Mean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" y="1335024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298448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Epochs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499616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much the model relies on proven strategies vs. exploring new 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691640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Higher epochs: leans on what’s worked. Safer, more predictable.
Lower epochs: more room to explore. Higher risk, higher reward.
Think of it like a restaurant menu: serve your bestsellers, or reserve space for new dishes.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" y="2505456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" y="2468880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Step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670048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finely the model slices time when linking mail to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862072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Smaller step: larger time windows (e.g., weeks). Easier to connect mail to response.
Larger step: shorter windows (days). More granular, but harder to see the full picture.
Think of it like zooming a camera: zoomed out shows the big picture; zoomed in shows detail but loses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3675888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3639312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Iterations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840480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many practice rounds the model runs through your mailing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4032504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More iterations = more chances to find meaningful patterns. Too many = over-tuned to past results.
Epochs control what the model focuses on; iterations control how much it practices.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822960"/>
            <a:ext cx="5820156" cy="5678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6228" y="932688"/>
            <a:ext cx="55001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D5D"/>
                </a:solidFill>
                <a:latin typeface="Arial"/>
              </a:rPr>
              <a:t>Continued Configurations Held Up — New Models Show Early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1298448"/>
            <a:ext cx="55001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1E4768"/>
                </a:solidFill>
                <a:latin typeface="Arial"/>
              </a:rPr>
              <a:t>Incremental revenue is driven by both CVR lift and order value. A model can generate strong conversion activity but still yield modest iROAS if those customers spend less than the holdout — the lift is real, but an AOV gap limits the return. Models that achieve both together compound the revenue impact.
</a:t>
            </a:r>
            <a:r>
              <a:rPr sz="900" b="1" i="0" dirty="0">
                <a:solidFill>
                  <a:srgbClr val="1E4768"/>
                </a:solidFill>
                <a:latin typeface="Arial"/>
              </a:rPr>
              <a:t>Continued from Spring: 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338 and 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184 delivered again — both producing strong CVR lift with neutral-to-positive AOV for the second consecutive campaign, confirming them as the program’s 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control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 configurations. </a:t>
            </a:r>
            <a:endParaRPr lang="en-US" sz="900" b="0" i="0" dirty="0">
              <a:solidFill>
                <a:srgbClr val="1E4768"/>
              </a:solidFill>
              <a:latin typeface="Arial"/>
            </a:endParaRPr>
          </a:p>
          <a:p>
            <a:pPr algn="l"/>
            <a:endParaRPr lang="en-US" sz="900" dirty="0">
              <a:solidFill>
                <a:srgbClr val="1E4768"/>
              </a:solidFill>
              <a:latin typeface="Arial"/>
            </a:endParaRPr>
          </a:p>
          <a:p>
            <a:pPr algn="l"/>
            <a:r>
              <a:rPr sz="900" b="0" i="0" dirty="0">
                <a:solidFill>
                  <a:srgbClr val="1E4768"/>
                </a:solidFill>
                <a:latin typeface="Arial"/>
              </a:rPr>
              <a:t>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392 was carried forward but continued to underperform, now across two campaigns.
</a:t>
            </a:r>
            <a:r>
              <a:rPr sz="900" b="1" i="0" dirty="0">
                <a:solidFill>
                  <a:srgbClr val="1E4768"/>
                </a:solidFill>
                <a:latin typeface="Arial"/>
              </a:rPr>
              <a:t>New this campaign: 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399 (2E·10K·10S), 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400 (4E·10K·10S), and 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529 (8E·10K·5S — first test of 8 epochs) were introduced. 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399 showed the most promise at 5.59x. The 8-epoch test produced modest returns despite a meaningful AOV advantage — worth continued testing.
</a:t>
            </a:r>
            <a:r>
              <a:rPr sz="900" b="1" i="0" dirty="0">
                <a:solidFill>
                  <a:srgbClr val="1E4768"/>
                </a:solidFill>
                <a:latin typeface="Arial"/>
              </a:rPr>
              <a:t>Recommendation: 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Scale 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338 and 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184. Continue testing 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399 as a mid-tier candidate. Retire M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o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d</a:t>
            </a:r>
            <a:r>
              <a:rPr lang="en-US" sz="900" b="0" i="0" dirty="0">
                <a:solidFill>
                  <a:srgbClr val="1E4768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1E4768"/>
                </a:solidFill>
                <a:latin typeface="Arial"/>
              </a:rPr>
              <a:t>l 392 after consistent underperformance across two campaigns.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6228" y="4041648"/>
            <a:ext cx="5500116" cy="256032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2804" y="4078224"/>
            <a:ext cx="54269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Campaign Examples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96228" y="4297680"/>
            <a:ext cx="5500116" cy="27432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2804" y="4315968"/>
            <a:ext cx="54269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Best:  Mdl 338 (4E·20K·10S) — +214.7% CVR lift, neutral AOV → 18.1x iROAS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96228" y="4572000"/>
            <a:ext cx="5500116" cy="29260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32804" y="4590288"/>
            <a:ext cx="54269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4768"/>
                </a:solidFill>
                <a:latin typeface="Arial"/>
              </a:rPr>
              <a:t>Cautionary:  Mdl 392 (4E·10K·5S) — +35% CVR lift, BUT -21% AOV vs. holdout → 1.1x iROAS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864</Words>
  <Application>Microsoft Macintosh PowerPoint</Application>
  <PresentationFormat>Custom</PresentationFormat>
  <Paragraphs>99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Tara Donavanik</cp:lastModifiedBy>
  <cp:revision>5</cp:revision>
  <dcterms:created xsi:type="dcterms:W3CDTF">2013-01-27T09:14:16Z</dcterms:created>
  <dcterms:modified xsi:type="dcterms:W3CDTF">2026-10-07T23:13:30Z</dcterms:modified>
  <cp:category/>
</cp:coreProperties>
</file>