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7"/>
    <p:restoredTop sz="94695"/>
  </p:normalViewPr>
  <p:slideViewPr>
    <p:cSldViewPr snapToGrid="0" snapToObjects="1">
      <p:cViewPr varScale="1">
        <p:scale>
          <a:sx n="101" d="100"/>
          <a:sy n="101" d="100"/>
        </p:scale>
        <p:origin x="792"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31416"/>
            <a:ext cx="4873752" cy="6858000"/>
          </a:xfrm>
          <a:prstGeom prst="rect">
            <a:avLst/>
          </a:prstGeom>
          <a:solidFill>
            <a:srgbClr val="163D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82880" y="182880"/>
            <a:ext cx="4663440" cy="502920"/>
          </a:xfrm>
          <a:prstGeom prst="rect">
            <a:avLst/>
          </a:prstGeom>
          <a:noFill/>
        </p:spPr>
        <p:txBody>
          <a:bodyPr wrap="square">
            <a:spAutoFit/>
          </a:bodyPr>
          <a:lstStyle/>
          <a:p>
            <a:pPr algn="l"/>
            <a:r>
              <a:rPr sz="1800" b="1" i="0">
                <a:solidFill>
                  <a:srgbClr val="FFFFFF"/>
                </a:solidFill>
                <a:latin typeface="Arial"/>
              </a:rPr>
              <a:t>CGPO Program Summary 2026</a:t>
            </a:r>
          </a:p>
        </p:txBody>
      </p:sp>
      <p:sp>
        <p:nvSpPr>
          <p:cNvPr id="4" name="TextBox 3"/>
          <p:cNvSpPr txBox="1"/>
          <p:nvPr/>
        </p:nvSpPr>
        <p:spPr>
          <a:xfrm>
            <a:off x="182880" y="713232"/>
            <a:ext cx="4663440" cy="274320"/>
          </a:xfrm>
          <a:prstGeom prst="rect">
            <a:avLst/>
          </a:prstGeom>
          <a:noFill/>
        </p:spPr>
        <p:txBody>
          <a:bodyPr wrap="square">
            <a:spAutoFit/>
          </a:bodyPr>
          <a:lstStyle/>
          <a:p>
            <a:pPr algn="l"/>
            <a:r>
              <a:rPr sz="1000" b="1" i="0">
                <a:solidFill>
                  <a:srgbClr val="00C5C1"/>
                </a:solidFill>
                <a:latin typeface="Arial"/>
              </a:rPr>
              <a:t>Callaway Golf Pre-Owned</a:t>
            </a:r>
          </a:p>
        </p:txBody>
      </p:sp>
      <p:sp>
        <p:nvSpPr>
          <p:cNvPr id="5" name="TextBox 4"/>
          <p:cNvSpPr txBox="1"/>
          <p:nvPr/>
        </p:nvSpPr>
        <p:spPr>
          <a:xfrm>
            <a:off x="182880" y="969264"/>
            <a:ext cx="4663440" cy="228600"/>
          </a:xfrm>
          <a:prstGeom prst="rect">
            <a:avLst/>
          </a:prstGeom>
          <a:noFill/>
        </p:spPr>
        <p:txBody>
          <a:bodyPr wrap="square">
            <a:spAutoFit/>
          </a:bodyPr>
          <a:lstStyle/>
          <a:p>
            <a:pPr algn="l"/>
            <a:r>
              <a:rPr sz="800" b="0" i="0">
                <a:solidFill>
                  <a:srgbClr val="B0D8D8"/>
                </a:solidFill>
                <a:latin typeface="Arial"/>
              </a:rPr>
              <a:t>Postie CRM Optimization</a:t>
            </a:r>
          </a:p>
        </p:txBody>
      </p:sp>
      <p:sp>
        <p:nvSpPr>
          <p:cNvPr id="6" name="Rectangle 5"/>
          <p:cNvSpPr/>
          <p:nvPr/>
        </p:nvSpPr>
        <p:spPr>
          <a:xfrm>
            <a:off x="182880" y="1261872"/>
            <a:ext cx="4663440" cy="19050"/>
          </a:xfrm>
          <a:prstGeom prst="rect">
            <a:avLst/>
          </a:prstGeom>
          <a:solidFill>
            <a:srgbClr val="00C5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82880" y="1371600"/>
            <a:ext cx="1508760" cy="201168"/>
          </a:xfrm>
          <a:prstGeom prst="rect">
            <a:avLst/>
          </a:prstGeom>
          <a:noFill/>
        </p:spPr>
        <p:txBody>
          <a:bodyPr wrap="square">
            <a:spAutoFit/>
          </a:bodyPr>
          <a:lstStyle/>
          <a:p>
            <a:pPr algn="l"/>
            <a:r>
              <a:rPr sz="700" b="0" i="0">
                <a:solidFill>
                  <a:srgbClr val="B0D8D8"/>
                </a:solidFill>
                <a:latin typeface="Arial"/>
              </a:rPr>
              <a:t>Portfolio iROAS</a:t>
            </a:r>
          </a:p>
        </p:txBody>
      </p:sp>
      <p:sp>
        <p:nvSpPr>
          <p:cNvPr id="8" name="TextBox 7"/>
          <p:cNvSpPr txBox="1"/>
          <p:nvPr/>
        </p:nvSpPr>
        <p:spPr>
          <a:xfrm>
            <a:off x="182880" y="1554480"/>
            <a:ext cx="1508760" cy="475488"/>
          </a:xfrm>
          <a:prstGeom prst="rect">
            <a:avLst/>
          </a:prstGeom>
          <a:noFill/>
        </p:spPr>
        <p:txBody>
          <a:bodyPr wrap="square">
            <a:spAutoFit/>
          </a:bodyPr>
          <a:lstStyle/>
          <a:p>
            <a:pPr algn="l"/>
            <a:r>
              <a:rPr sz="2200" b="1" i="0">
                <a:solidFill>
                  <a:srgbClr val="00C5C1"/>
                </a:solidFill>
                <a:latin typeface="Arial"/>
              </a:rPr>
              <a:t>10.2x</a:t>
            </a:r>
          </a:p>
        </p:txBody>
      </p:sp>
      <p:sp>
        <p:nvSpPr>
          <p:cNvPr id="9" name="TextBox 8"/>
          <p:cNvSpPr txBox="1"/>
          <p:nvPr/>
        </p:nvSpPr>
        <p:spPr>
          <a:xfrm>
            <a:off x="1801368" y="1371600"/>
            <a:ext cx="1508760" cy="201168"/>
          </a:xfrm>
          <a:prstGeom prst="rect">
            <a:avLst/>
          </a:prstGeom>
          <a:noFill/>
        </p:spPr>
        <p:txBody>
          <a:bodyPr wrap="square">
            <a:spAutoFit/>
          </a:bodyPr>
          <a:lstStyle/>
          <a:p>
            <a:pPr algn="l"/>
            <a:r>
              <a:rPr sz="700" b="0" i="0">
                <a:solidFill>
                  <a:srgbClr val="B0D8D8"/>
                </a:solidFill>
                <a:latin typeface="Arial"/>
              </a:rPr>
              <a:t>Total Incr. Rev</a:t>
            </a:r>
          </a:p>
        </p:txBody>
      </p:sp>
      <p:sp>
        <p:nvSpPr>
          <p:cNvPr id="10" name="TextBox 9"/>
          <p:cNvSpPr txBox="1"/>
          <p:nvPr/>
        </p:nvSpPr>
        <p:spPr>
          <a:xfrm>
            <a:off x="1801368" y="1554480"/>
            <a:ext cx="1508760" cy="475488"/>
          </a:xfrm>
          <a:prstGeom prst="rect">
            <a:avLst/>
          </a:prstGeom>
          <a:noFill/>
        </p:spPr>
        <p:txBody>
          <a:bodyPr wrap="square">
            <a:spAutoFit/>
          </a:bodyPr>
          <a:lstStyle/>
          <a:p>
            <a:pPr algn="l"/>
            <a:r>
              <a:rPr sz="2200" b="1" i="0">
                <a:solidFill>
                  <a:srgbClr val="00C5C1"/>
                </a:solidFill>
                <a:latin typeface="Arial"/>
              </a:rPr>
              <a:t>$1.68M</a:t>
            </a:r>
          </a:p>
        </p:txBody>
      </p:sp>
      <p:sp>
        <p:nvSpPr>
          <p:cNvPr id="11" name="TextBox 10"/>
          <p:cNvSpPr txBox="1"/>
          <p:nvPr/>
        </p:nvSpPr>
        <p:spPr>
          <a:xfrm>
            <a:off x="3410712" y="1371600"/>
            <a:ext cx="1508760" cy="201168"/>
          </a:xfrm>
          <a:prstGeom prst="rect">
            <a:avLst/>
          </a:prstGeom>
          <a:noFill/>
        </p:spPr>
        <p:txBody>
          <a:bodyPr wrap="square">
            <a:spAutoFit/>
          </a:bodyPr>
          <a:lstStyle/>
          <a:p>
            <a:pPr algn="l"/>
            <a:r>
              <a:rPr sz="700" b="0" i="0">
                <a:solidFill>
                  <a:srgbClr val="B0D8D8"/>
                </a:solidFill>
                <a:latin typeface="Arial"/>
              </a:rPr>
              <a:t>Total Spend</a:t>
            </a:r>
          </a:p>
        </p:txBody>
      </p:sp>
      <p:sp>
        <p:nvSpPr>
          <p:cNvPr id="12" name="TextBox 11"/>
          <p:cNvSpPr txBox="1"/>
          <p:nvPr/>
        </p:nvSpPr>
        <p:spPr>
          <a:xfrm>
            <a:off x="3410712" y="1554480"/>
            <a:ext cx="1508760" cy="475488"/>
          </a:xfrm>
          <a:prstGeom prst="rect">
            <a:avLst/>
          </a:prstGeom>
          <a:noFill/>
        </p:spPr>
        <p:txBody>
          <a:bodyPr wrap="square">
            <a:spAutoFit/>
          </a:bodyPr>
          <a:lstStyle/>
          <a:p>
            <a:pPr algn="l"/>
            <a:r>
              <a:rPr sz="2200" b="1" i="0">
                <a:solidFill>
                  <a:srgbClr val="00C5C1"/>
                </a:solidFill>
                <a:latin typeface="Arial"/>
              </a:rPr>
              <a:t>$163,513</a:t>
            </a:r>
          </a:p>
        </p:txBody>
      </p:sp>
      <p:sp>
        <p:nvSpPr>
          <p:cNvPr id="13" name="Rectangle 12"/>
          <p:cNvSpPr/>
          <p:nvPr/>
        </p:nvSpPr>
        <p:spPr>
          <a:xfrm>
            <a:off x="182880" y="2121408"/>
            <a:ext cx="4663440" cy="19050"/>
          </a:xfrm>
          <a:prstGeom prst="rect">
            <a:avLst/>
          </a:prstGeom>
          <a:solidFill>
            <a:srgbClr val="00C5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82880" y="2212848"/>
            <a:ext cx="4663440" cy="1133856"/>
          </a:xfrm>
          <a:prstGeom prst="rect">
            <a:avLst/>
          </a:prstGeom>
          <a:solidFill>
            <a:srgbClr val="1C4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82880" y="2212848"/>
            <a:ext cx="64008" cy="1133856"/>
          </a:xfrm>
          <a:prstGeom prst="rect">
            <a:avLst/>
          </a:prstGeom>
          <a:solidFill>
            <a:srgbClr val="00C5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38328" y="2304288"/>
            <a:ext cx="4434840" cy="230832"/>
          </a:xfrm>
          <a:prstGeom prst="rect">
            <a:avLst/>
          </a:prstGeom>
          <a:noFill/>
        </p:spPr>
        <p:txBody>
          <a:bodyPr wrap="square">
            <a:spAutoFit/>
          </a:bodyPr>
          <a:lstStyle/>
          <a:p>
            <a:pPr algn="l"/>
            <a:r>
              <a:rPr sz="900" b="1" i="0" dirty="0">
                <a:solidFill>
                  <a:srgbClr val="FFFFFF"/>
                </a:solidFill>
                <a:latin typeface="Arial"/>
              </a:rPr>
              <a:t>Winter 2026 — Gen</a:t>
            </a:r>
            <a:r>
              <a:rPr lang="en-US" sz="900" b="1" i="0" dirty="0">
                <a:solidFill>
                  <a:srgbClr val="FFFFFF"/>
                </a:solidFill>
                <a:latin typeface="Arial"/>
              </a:rPr>
              <a:t>eral CRM </a:t>
            </a:r>
            <a:r>
              <a:rPr sz="900" b="1" i="0" dirty="0">
                <a:solidFill>
                  <a:srgbClr val="FFFFFF"/>
                </a:solidFill>
                <a:latin typeface="Arial"/>
              </a:rPr>
              <a:t>Models Set the Standard</a:t>
            </a:r>
          </a:p>
        </p:txBody>
      </p:sp>
      <p:sp>
        <p:nvSpPr>
          <p:cNvPr id="17" name="TextBox 16"/>
          <p:cNvSpPr txBox="1"/>
          <p:nvPr/>
        </p:nvSpPr>
        <p:spPr>
          <a:xfrm>
            <a:off x="338328" y="2560320"/>
            <a:ext cx="4434840" cy="707886"/>
          </a:xfrm>
          <a:prstGeom prst="rect">
            <a:avLst/>
          </a:prstGeom>
          <a:noFill/>
        </p:spPr>
        <p:txBody>
          <a:bodyPr wrap="square">
            <a:spAutoFit/>
          </a:bodyPr>
          <a:lstStyle/>
          <a:p>
            <a:pPr algn="l"/>
            <a:r>
              <a:rPr sz="1000" b="0" i="0" dirty="0">
                <a:solidFill>
                  <a:srgbClr val="FFFFFF"/>
                </a:solidFill>
                <a:latin typeface="Arial"/>
              </a:rPr>
              <a:t>First </a:t>
            </a:r>
            <a:r>
              <a:rPr lang="en-US" sz="1000" b="0" i="0" dirty="0">
                <a:solidFill>
                  <a:srgbClr val="FFFFFF"/>
                </a:solidFill>
                <a:latin typeface="Arial"/>
              </a:rPr>
              <a:t>CRM Optimization </a:t>
            </a:r>
            <a:r>
              <a:rPr sz="1000" b="0" i="0" dirty="0">
                <a:solidFill>
                  <a:srgbClr val="FFFFFF"/>
                </a:solidFill>
                <a:latin typeface="Arial"/>
              </a:rPr>
              <a:t>campaign Gen</a:t>
            </a:r>
            <a:r>
              <a:rPr lang="en-US" sz="1000" b="0" i="0" dirty="0">
                <a:solidFill>
                  <a:srgbClr val="FFFFFF"/>
                </a:solidFill>
                <a:latin typeface="Arial"/>
              </a:rPr>
              <a:t>eral</a:t>
            </a:r>
            <a:r>
              <a:rPr sz="1000" b="0" i="0" dirty="0">
                <a:solidFill>
                  <a:srgbClr val="FFFFFF"/>
                </a:solidFill>
                <a:latin typeface="Arial"/>
              </a:rPr>
              <a:t> models </a:t>
            </a:r>
            <a:r>
              <a:rPr lang="en-US" sz="1000" b="0" i="0" dirty="0">
                <a:solidFill>
                  <a:srgbClr val="FFFFFF"/>
                </a:solidFill>
                <a:latin typeface="Arial"/>
              </a:rPr>
              <a:t>vs Client models </a:t>
            </a:r>
            <a:r>
              <a:rPr sz="1000" b="0" i="0" dirty="0">
                <a:solidFill>
                  <a:srgbClr val="FFFFFF"/>
                </a:solidFill>
                <a:latin typeface="Arial"/>
              </a:rPr>
              <a:t>deployed</a:t>
            </a:r>
            <a:r>
              <a:rPr lang="en-US" sz="1000" b="0" i="0" dirty="0">
                <a:solidFill>
                  <a:srgbClr val="FFFFFF"/>
                </a:solidFill>
                <a:latin typeface="Arial"/>
              </a:rPr>
              <a:t>.</a:t>
            </a:r>
            <a:r>
              <a:rPr sz="1000" b="0" i="0" dirty="0">
                <a:solidFill>
                  <a:srgbClr val="FFFFFF"/>
                </a:solidFill>
                <a:latin typeface="Arial"/>
              </a:rPr>
              <a:t> Gen</a:t>
            </a:r>
            <a:r>
              <a:rPr lang="en-US" sz="1000" b="0" i="0" dirty="0">
                <a:solidFill>
                  <a:srgbClr val="FFFFFF"/>
                </a:solidFill>
                <a:latin typeface="Arial"/>
              </a:rPr>
              <a:t>eral Model</a:t>
            </a:r>
            <a:r>
              <a:rPr sz="1000" b="0" i="0" dirty="0">
                <a:solidFill>
                  <a:srgbClr val="FFFFFF"/>
                </a:solidFill>
                <a:latin typeface="Arial"/>
              </a:rPr>
              <a:t> 182 achieved 27x </a:t>
            </a:r>
            <a:r>
              <a:rPr sz="1000" b="0" i="0" dirty="0" err="1">
                <a:solidFill>
                  <a:srgbClr val="FFFFFF"/>
                </a:solidFill>
                <a:latin typeface="Arial"/>
              </a:rPr>
              <a:t>iROAS</a:t>
            </a:r>
            <a:r>
              <a:rPr sz="1000" b="0" i="0" dirty="0">
                <a:solidFill>
                  <a:srgbClr val="FFFFFF"/>
                </a:solidFill>
                <a:latin typeface="Arial"/>
              </a:rPr>
              <a:t> and $817K, the program's peak. Gen</a:t>
            </a:r>
            <a:r>
              <a:rPr lang="en-US" sz="1000" b="0" i="0" dirty="0">
                <a:solidFill>
                  <a:srgbClr val="FFFFFF"/>
                </a:solidFill>
                <a:latin typeface="Arial"/>
              </a:rPr>
              <a:t>eral</a:t>
            </a:r>
            <a:r>
              <a:rPr sz="1000" b="0" i="0" dirty="0">
                <a:solidFill>
                  <a:srgbClr val="FFFFFF"/>
                </a:solidFill>
                <a:latin typeface="Arial"/>
              </a:rPr>
              <a:t> vs. Client comparison was definitive: Gen</a:t>
            </a:r>
            <a:r>
              <a:rPr lang="en-US" sz="1000" b="0" i="0" dirty="0">
                <a:solidFill>
                  <a:srgbClr val="FFFFFF"/>
                </a:solidFill>
                <a:latin typeface="Arial"/>
              </a:rPr>
              <a:t>eral</a:t>
            </a:r>
            <a:r>
              <a:rPr sz="1000" b="0" i="0" dirty="0">
                <a:solidFill>
                  <a:srgbClr val="FFFFFF"/>
                </a:solidFill>
                <a:latin typeface="Arial"/>
              </a:rPr>
              <a:t> models outperformed by an order of magnitude.</a:t>
            </a:r>
          </a:p>
        </p:txBody>
      </p:sp>
      <p:sp>
        <p:nvSpPr>
          <p:cNvPr id="18" name="Rectangle 17"/>
          <p:cNvSpPr/>
          <p:nvPr/>
        </p:nvSpPr>
        <p:spPr>
          <a:xfrm>
            <a:off x="182880" y="3438144"/>
            <a:ext cx="4663440" cy="1133856"/>
          </a:xfrm>
          <a:prstGeom prst="rect">
            <a:avLst/>
          </a:prstGeom>
          <a:solidFill>
            <a:srgbClr val="1C4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182880" y="3438144"/>
            <a:ext cx="64008" cy="1133856"/>
          </a:xfrm>
          <a:prstGeom prst="rect">
            <a:avLst/>
          </a:prstGeom>
          <a:solidFill>
            <a:srgbClr val="00C5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38328" y="3529584"/>
            <a:ext cx="4434840" cy="230832"/>
          </a:xfrm>
          <a:prstGeom prst="rect">
            <a:avLst/>
          </a:prstGeom>
          <a:noFill/>
        </p:spPr>
        <p:txBody>
          <a:bodyPr wrap="square">
            <a:spAutoFit/>
          </a:bodyPr>
          <a:lstStyle/>
          <a:p>
            <a:pPr algn="l"/>
            <a:r>
              <a:rPr sz="900" b="1" i="0" dirty="0">
                <a:solidFill>
                  <a:srgbClr val="FFFFFF"/>
                </a:solidFill>
                <a:latin typeface="Arial"/>
              </a:rPr>
              <a:t>Spring 2026 — Config</a:t>
            </a:r>
            <a:r>
              <a:rPr lang="en-US" sz="900" b="1" i="0" dirty="0">
                <a:solidFill>
                  <a:srgbClr val="FFFFFF"/>
                </a:solidFill>
                <a:latin typeface="Arial"/>
              </a:rPr>
              <a:t>uration </a:t>
            </a:r>
            <a:r>
              <a:rPr sz="900" b="1" i="0" dirty="0">
                <a:solidFill>
                  <a:srgbClr val="FFFFFF"/>
                </a:solidFill>
                <a:latin typeface="Arial"/>
              </a:rPr>
              <a:t>Space Explored</a:t>
            </a:r>
          </a:p>
        </p:txBody>
      </p:sp>
      <p:sp>
        <p:nvSpPr>
          <p:cNvPr id="21" name="TextBox 20"/>
          <p:cNvSpPr txBox="1"/>
          <p:nvPr/>
        </p:nvSpPr>
        <p:spPr>
          <a:xfrm>
            <a:off x="338328" y="3785616"/>
            <a:ext cx="4434840" cy="553998"/>
          </a:xfrm>
          <a:prstGeom prst="rect">
            <a:avLst/>
          </a:prstGeom>
          <a:noFill/>
        </p:spPr>
        <p:txBody>
          <a:bodyPr wrap="square">
            <a:spAutoFit/>
          </a:bodyPr>
          <a:lstStyle/>
          <a:p>
            <a:pPr algn="l"/>
            <a:r>
              <a:rPr sz="1000" b="0" i="0" dirty="0">
                <a:solidFill>
                  <a:srgbClr val="FFFFFF"/>
                </a:solidFill>
                <a:latin typeface="Arial"/>
              </a:rPr>
              <a:t>7 configurations tested across epoch, iteration, and step combinations. 20K iterations consistently outperformed 10K — identifying M</a:t>
            </a:r>
            <a:r>
              <a:rPr lang="en-US" sz="1000" b="0" i="0" dirty="0">
                <a:solidFill>
                  <a:srgbClr val="FFFFFF"/>
                </a:solidFill>
                <a:latin typeface="Arial"/>
              </a:rPr>
              <a:t>o</a:t>
            </a:r>
            <a:r>
              <a:rPr sz="1000" b="0" i="0" dirty="0">
                <a:solidFill>
                  <a:srgbClr val="FFFFFF"/>
                </a:solidFill>
                <a:latin typeface="Arial"/>
              </a:rPr>
              <a:t>d</a:t>
            </a:r>
            <a:r>
              <a:rPr lang="en-US" sz="1000" b="0" i="0" dirty="0">
                <a:solidFill>
                  <a:srgbClr val="FFFFFF"/>
                </a:solidFill>
                <a:latin typeface="Arial"/>
              </a:rPr>
              <a:t>e</a:t>
            </a:r>
            <a:r>
              <a:rPr sz="1000" b="0" i="0" dirty="0">
                <a:solidFill>
                  <a:srgbClr val="FFFFFF"/>
                </a:solidFill>
                <a:latin typeface="Arial"/>
              </a:rPr>
              <a:t>l 338 and M</a:t>
            </a:r>
            <a:r>
              <a:rPr lang="en-US" sz="1000" b="0" i="0" dirty="0">
                <a:solidFill>
                  <a:srgbClr val="FFFFFF"/>
                </a:solidFill>
                <a:latin typeface="Arial"/>
              </a:rPr>
              <a:t>o</a:t>
            </a:r>
            <a:r>
              <a:rPr sz="1000" b="0" i="0" dirty="0">
                <a:solidFill>
                  <a:srgbClr val="FFFFFF"/>
                </a:solidFill>
                <a:latin typeface="Arial"/>
              </a:rPr>
              <a:t>d</a:t>
            </a:r>
            <a:r>
              <a:rPr lang="en-US" sz="1000" b="0" i="0" dirty="0">
                <a:solidFill>
                  <a:srgbClr val="FFFFFF"/>
                </a:solidFill>
                <a:latin typeface="Arial"/>
              </a:rPr>
              <a:t>e</a:t>
            </a:r>
            <a:r>
              <a:rPr sz="1000" b="0" i="0" dirty="0">
                <a:solidFill>
                  <a:srgbClr val="FFFFFF"/>
                </a:solidFill>
                <a:latin typeface="Arial"/>
              </a:rPr>
              <a:t>l 184 as the </a:t>
            </a:r>
            <a:r>
              <a:rPr lang="en-US" sz="1000" b="0" i="0" dirty="0">
                <a:solidFill>
                  <a:srgbClr val="FFFFFF"/>
                </a:solidFill>
                <a:latin typeface="Arial"/>
              </a:rPr>
              <a:t>control</a:t>
            </a:r>
            <a:r>
              <a:rPr sz="1000" b="0" i="0" dirty="0">
                <a:solidFill>
                  <a:srgbClr val="FFFFFF"/>
                </a:solidFill>
                <a:latin typeface="Arial"/>
              </a:rPr>
              <a:t> configurations going forward.</a:t>
            </a:r>
          </a:p>
        </p:txBody>
      </p:sp>
      <p:sp>
        <p:nvSpPr>
          <p:cNvPr id="22" name="Rectangle 21"/>
          <p:cNvSpPr/>
          <p:nvPr/>
        </p:nvSpPr>
        <p:spPr>
          <a:xfrm>
            <a:off x="182880" y="4663440"/>
            <a:ext cx="4663440" cy="1133856"/>
          </a:xfrm>
          <a:prstGeom prst="rect">
            <a:avLst/>
          </a:prstGeom>
          <a:solidFill>
            <a:srgbClr val="1C4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182880" y="4663440"/>
            <a:ext cx="64008" cy="1133856"/>
          </a:xfrm>
          <a:prstGeom prst="rect">
            <a:avLst/>
          </a:prstGeom>
          <a:solidFill>
            <a:srgbClr val="00C5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29184" y="4735673"/>
            <a:ext cx="4434840" cy="230832"/>
          </a:xfrm>
          <a:prstGeom prst="rect">
            <a:avLst/>
          </a:prstGeom>
          <a:noFill/>
        </p:spPr>
        <p:txBody>
          <a:bodyPr wrap="square">
            <a:spAutoFit/>
          </a:bodyPr>
          <a:lstStyle/>
          <a:p>
            <a:pPr algn="l"/>
            <a:r>
              <a:rPr sz="900" b="1" i="0" dirty="0">
                <a:solidFill>
                  <a:srgbClr val="FFFFFF"/>
                </a:solidFill>
                <a:latin typeface="Arial"/>
              </a:rPr>
              <a:t>Summer 2026 — </a:t>
            </a:r>
            <a:r>
              <a:rPr lang="en-US" sz="900" b="1" i="0" dirty="0">
                <a:solidFill>
                  <a:srgbClr val="FFFFFF"/>
                </a:solidFill>
                <a:latin typeface="Arial"/>
              </a:rPr>
              <a:t>Controls</a:t>
            </a:r>
            <a:r>
              <a:rPr sz="900" b="1" i="0" dirty="0">
                <a:solidFill>
                  <a:srgbClr val="FFFFFF"/>
                </a:solidFill>
                <a:latin typeface="Arial"/>
              </a:rPr>
              <a:t> Hold, Field Expands</a:t>
            </a:r>
          </a:p>
        </p:txBody>
      </p:sp>
      <p:sp>
        <p:nvSpPr>
          <p:cNvPr id="25" name="TextBox 24"/>
          <p:cNvSpPr txBox="1"/>
          <p:nvPr/>
        </p:nvSpPr>
        <p:spPr>
          <a:xfrm>
            <a:off x="338328" y="4942529"/>
            <a:ext cx="4434840" cy="861774"/>
          </a:xfrm>
          <a:prstGeom prst="rect">
            <a:avLst/>
          </a:prstGeom>
          <a:noFill/>
        </p:spPr>
        <p:txBody>
          <a:bodyPr wrap="square">
            <a:spAutoFit/>
          </a:bodyPr>
          <a:lstStyle/>
          <a:p>
            <a:pPr algn="l"/>
            <a:r>
              <a:rPr sz="1000" b="0" i="0" dirty="0">
                <a:solidFill>
                  <a:srgbClr val="FFFFFF"/>
                </a:solidFill>
                <a:latin typeface="Arial"/>
              </a:rPr>
              <a:t>M</a:t>
            </a:r>
            <a:r>
              <a:rPr lang="en-US" sz="1000" b="0" i="0" dirty="0">
                <a:solidFill>
                  <a:srgbClr val="FFFFFF"/>
                </a:solidFill>
                <a:latin typeface="Arial"/>
              </a:rPr>
              <a:t>o</a:t>
            </a:r>
            <a:r>
              <a:rPr sz="1000" b="0" i="0" dirty="0">
                <a:solidFill>
                  <a:srgbClr val="FFFFFF"/>
                </a:solidFill>
                <a:latin typeface="Arial"/>
              </a:rPr>
              <a:t>d</a:t>
            </a:r>
            <a:r>
              <a:rPr lang="en-US" sz="1000" b="0" i="0" dirty="0">
                <a:solidFill>
                  <a:srgbClr val="FFFFFF"/>
                </a:solidFill>
                <a:latin typeface="Arial"/>
              </a:rPr>
              <a:t>e</a:t>
            </a:r>
            <a:r>
              <a:rPr sz="1000" b="0" i="0" dirty="0">
                <a:solidFill>
                  <a:srgbClr val="FFFFFF"/>
                </a:solidFill>
                <a:latin typeface="Arial"/>
              </a:rPr>
              <a:t>l 338 and M</a:t>
            </a:r>
            <a:r>
              <a:rPr lang="en-US" sz="1000" b="0" i="0" dirty="0">
                <a:solidFill>
                  <a:srgbClr val="FFFFFF"/>
                </a:solidFill>
                <a:latin typeface="Arial"/>
              </a:rPr>
              <a:t>o</a:t>
            </a:r>
            <a:r>
              <a:rPr sz="1000" b="0" i="0" dirty="0">
                <a:solidFill>
                  <a:srgbClr val="FFFFFF"/>
                </a:solidFill>
                <a:latin typeface="Arial"/>
              </a:rPr>
              <a:t>d</a:t>
            </a:r>
            <a:r>
              <a:rPr lang="en-US" sz="1000" b="0" i="0" dirty="0">
                <a:solidFill>
                  <a:srgbClr val="FFFFFF"/>
                </a:solidFill>
                <a:latin typeface="Arial"/>
              </a:rPr>
              <a:t>e</a:t>
            </a:r>
            <a:r>
              <a:rPr sz="1000" b="0" i="0" dirty="0">
                <a:solidFill>
                  <a:srgbClr val="FFFFFF"/>
                </a:solidFill>
                <a:latin typeface="Arial"/>
              </a:rPr>
              <a:t>l 184 confirmed across a second consecutive campaign. Three new configurations introduced — M</a:t>
            </a:r>
            <a:r>
              <a:rPr lang="en-US" sz="1000" b="0" i="0" dirty="0">
                <a:solidFill>
                  <a:srgbClr val="FFFFFF"/>
                </a:solidFill>
                <a:latin typeface="Arial"/>
              </a:rPr>
              <a:t>o</a:t>
            </a:r>
            <a:r>
              <a:rPr sz="1000" b="0" i="0" dirty="0">
                <a:solidFill>
                  <a:srgbClr val="FFFFFF"/>
                </a:solidFill>
                <a:latin typeface="Arial"/>
              </a:rPr>
              <a:t>d</a:t>
            </a:r>
            <a:r>
              <a:rPr lang="en-US" sz="1000" b="0" i="0" dirty="0">
                <a:solidFill>
                  <a:srgbClr val="FFFFFF"/>
                </a:solidFill>
                <a:latin typeface="Arial"/>
              </a:rPr>
              <a:t>e</a:t>
            </a:r>
            <a:r>
              <a:rPr sz="1000" b="0" i="0" dirty="0">
                <a:solidFill>
                  <a:srgbClr val="FFFFFF"/>
                </a:solidFill>
                <a:latin typeface="Arial"/>
              </a:rPr>
              <a:t>l 399 showed early promise at 5.59x. </a:t>
            </a:r>
            <a:endParaRPr lang="en-US" sz="1000" b="0" i="0" dirty="0">
              <a:solidFill>
                <a:srgbClr val="FFFFFF"/>
              </a:solidFill>
              <a:latin typeface="Arial"/>
            </a:endParaRPr>
          </a:p>
          <a:p>
            <a:pPr algn="l"/>
            <a:endParaRPr lang="en-US" sz="1000" b="1" i="0" dirty="0">
              <a:solidFill>
                <a:srgbClr val="FFFFFF"/>
              </a:solidFill>
              <a:latin typeface="Arial"/>
            </a:endParaRPr>
          </a:p>
          <a:p>
            <a:pPr algn="l"/>
            <a:r>
              <a:rPr sz="1000" b="1" i="0" dirty="0">
                <a:solidFill>
                  <a:srgbClr val="FFFFFF"/>
                </a:solidFill>
                <a:latin typeface="Arial"/>
              </a:rPr>
              <a:t>Three campaigns: $1.68M cumulative.</a:t>
            </a:r>
          </a:p>
        </p:txBody>
      </p:sp>
      <p:sp>
        <p:nvSpPr>
          <p:cNvPr id="26" name="TextBox 25"/>
          <p:cNvSpPr txBox="1"/>
          <p:nvPr/>
        </p:nvSpPr>
        <p:spPr>
          <a:xfrm>
            <a:off x="182880" y="6446520"/>
            <a:ext cx="4663440" cy="320040"/>
          </a:xfrm>
          <a:prstGeom prst="rect">
            <a:avLst/>
          </a:prstGeom>
          <a:noFill/>
        </p:spPr>
        <p:txBody>
          <a:bodyPr wrap="square">
            <a:spAutoFit/>
          </a:bodyPr>
          <a:lstStyle/>
          <a:p>
            <a:pPr algn="l"/>
            <a:r>
              <a:rPr sz="650" b="0" i="0">
                <a:solidFill>
                  <a:srgbClr val="5A7A8A"/>
                </a:solidFill>
                <a:latin typeface="Arial"/>
              </a:rPr>
              <a:t>3 campaigns  |  298K total reach  |  Winter 2025 – Summer 2026</a:t>
            </a:r>
          </a:p>
        </p:txBody>
      </p:sp>
      <p:sp>
        <p:nvSpPr>
          <p:cNvPr id="27" name="Rectangle 26"/>
          <p:cNvSpPr/>
          <p:nvPr/>
        </p:nvSpPr>
        <p:spPr>
          <a:xfrm>
            <a:off x="4892040" y="0"/>
            <a:ext cx="729691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029200" y="164592"/>
            <a:ext cx="7086600" cy="365760"/>
          </a:xfrm>
          <a:prstGeom prst="rect">
            <a:avLst/>
          </a:prstGeom>
          <a:noFill/>
        </p:spPr>
        <p:txBody>
          <a:bodyPr wrap="square">
            <a:spAutoFit/>
          </a:bodyPr>
          <a:lstStyle/>
          <a:p>
            <a:pPr algn="l"/>
            <a:r>
              <a:rPr sz="1400" b="1" i="0">
                <a:solidFill>
                  <a:srgbClr val="163D5D"/>
                </a:solidFill>
                <a:latin typeface="Arial"/>
              </a:rPr>
              <a:t>Campaign Performance Summary</a:t>
            </a:r>
          </a:p>
        </p:txBody>
      </p:sp>
      <p:graphicFrame>
        <p:nvGraphicFramePr>
          <p:cNvPr id="29" name="Table 28"/>
          <p:cNvGraphicFramePr>
            <a:graphicFrameLocks noGrp="1"/>
          </p:cNvGraphicFramePr>
          <p:nvPr/>
        </p:nvGraphicFramePr>
        <p:xfrm>
          <a:off x="5029200" y="594360"/>
          <a:ext cx="6976869" cy="3474720"/>
        </p:xfrm>
        <a:graphic>
          <a:graphicData uri="http://schemas.openxmlformats.org/drawingml/2006/table">
            <a:tbl>
              <a:tblPr>
                <a:tableStyleId>{5C22544A-7EE6-4342-B048-85BDC9FD1C3A}</a:tableStyleId>
              </a:tblPr>
              <a:tblGrid>
                <a:gridCol w="1883755">
                  <a:extLst>
                    <a:ext uri="{9D8B030D-6E8A-4147-A177-3AD203B41FA5}">
                      <a16:colId xmlns:a16="http://schemas.microsoft.com/office/drawing/2014/main" val="20000"/>
                    </a:ext>
                  </a:extLst>
                </a:gridCol>
                <a:gridCol w="837224">
                  <a:extLst>
                    <a:ext uri="{9D8B030D-6E8A-4147-A177-3AD203B41FA5}">
                      <a16:colId xmlns:a16="http://schemas.microsoft.com/office/drawing/2014/main" val="20001"/>
                    </a:ext>
                  </a:extLst>
                </a:gridCol>
                <a:gridCol w="837224">
                  <a:extLst>
                    <a:ext uri="{9D8B030D-6E8A-4147-A177-3AD203B41FA5}">
                      <a16:colId xmlns:a16="http://schemas.microsoft.com/office/drawing/2014/main" val="20002"/>
                    </a:ext>
                  </a:extLst>
                </a:gridCol>
                <a:gridCol w="697687">
                  <a:extLst>
                    <a:ext uri="{9D8B030D-6E8A-4147-A177-3AD203B41FA5}">
                      <a16:colId xmlns:a16="http://schemas.microsoft.com/office/drawing/2014/main" val="20003"/>
                    </a:ext>
                  </a:extLst>
                </a:gridCol>
                <a:gridCol w="976762">
                  <a:extLst>
                    <a:ext uri="{9D8B030D-6E8A-4147-A177-3AD203B41FA5}">
                      <a16:colId xmlns:a16="http://schemas.microsoft.com/office/drawing/2014/main" val="20004"/>
                    </a:ext>
                  </a:extLst>
                </a:gridCol>
                <a:gridCol w="767455">
                  <a:extLst>
                    <a:ext uri="{9D8B030D-6E8A-4147-A177-3AD203B41FA5}">
                      <a16:colId xmlns:a16="http://schemas.microsoft.com/office/drawing/2014/main" val="20005"/>
                    </a:ext>
                  </a:extLst>
                </a:gridCol>
                <a:gridCol w="976762">
                  <a:extLst>
                    <a:ext uri="{9D8B030D-6E8A-4147-A177-3AD203B41FA5}">
                      <a16:colId xmlns:a16="http://schemas.microsoft.com/office/drawing/2014/main" val="20006"/>
                    </a:ext>
                  </a:extLst>
                </a:gridCol>
              </a:tblGrid>
              <a:tr h="355600">
                <a:tc>
                  <a:txBody>
                    <a:bodyPr/>
                    <a:lstStyle/>
                    <a:p>
                      <a:pPr algn="l"/>
                      <a:r>
                        <a:rPr sz="800" b="1">
                          <a:solidFill>
                            <a:srgbClr val="FFFFFF"/>
                          </a:solidFill>
                          <a:latin typeface="Arial"/>
                        </a:rPr>
                        <a:t>Campaign</a:t>
                      </a:r>
                    </a:p>
                  </a:txBody>
                  <a:tcPr>
                    <a:solidFill>
                      <a:srgbClr val="163D5D"/>
                    </a:solidFill>
                  </a:tcPr>
                </a:tc>
                <a:tc>
                  <a:txBody>
                    <a:bodyPr/>
                    <a:lstStyle/>
                    <a:p>
                      <a:pPr algn="l"/>
                      <a:r>
                        <a:rPr sz="800" b="1">
                          <a:solidFill>
                            <a:srgbClr val="FFFFFF"/>
                          </a:solidFill>
                          <a:latin typeface="Arial"/>
                        </a:rPr>
                        <a:t>Period</a:t>
                      </a:r>
                    </a:p>
                  </a:txBody>
                  <a:tcPr>
                    <a:solidFill>
                      <a:srgbClr val="163D5D"/>
                    </a:solidFill>
                  </a:tcPr>
                </a:tc>
                <a:tc>
                  <a:txBody>
                    <a:bodyPr/>
                    <a:lstStyle/>
                    <a:p>
                      <a:pPr algn="ctr"/>
                      <a:r>
                        <a:rPr sz="800" b="1">
                          <a:solidFill>
                            <a:srgbClr val="FFFFFF"/>
                          </a:solidFill>
                          <a:latin typeface="Arial"/>
                        </a:rPr>
                        <a:t>Spend</a:t>
                      </a:r>
                    </a:p>
                  </a:txBody>
                  <a:tcPr>
                    <a:solidFill>
                      <a:srgbClr val="163D5D"/>
                    </a:solidFill>
                  </a:tcPr>
                </a:tc>
                <a:tc>
                  <a:txBody>
                    <a:bodyPr/>
                    <a:lstStyle/>
                    <a:p>
                      <a:pPr algn="ctr"/>
                      <a:r>
                        <a:rPr sz="800" b="1">
                          <a:solidFill>
                            <a:srgbClr val="FFFFFF"/>
                          </a:solidFill>
                          <a:latin typeface="Arial"/>
                        </a:rPr>
                        <a:t>Reach</a:t>
                      </a:r>
                    </a:p>
                  </a:txBody>
                  <a:tcPr>
                    <a:solidFill>
                      <a:srgbClr val="163D5D"/>
                    </a:solidFill>
                  </a:tcPr>
                </a:tc>
                <a:tc>
                  <a:txBody>
                    <a:bodyPr/>
                    <a:lstStyle/>
                    <a:p>
                      <a:pPr algn="ctr"/>
                      <a:r>
                        <a:rPr sz="800" b="1">
                          <a:solidFill>
                            <a:srgbClr val="FFFFFF"/>
                          </a:solidFill>
                          <a:latin typeface="Arial"/>
                        </a:rPr>
                        <a:t>Wtd. CVR Lift</a:t>
                      </a:r>
                    </a:p>
                  </a:txBody>
                  <a:tcPr>
                    <a:solidFill>
                      <a:srgbClr val="163D5D"/>
                    </a:solidFill>
                  </a:tcPr>
                </a:tc>
                <a:tc>
                  <a:txBody>
                    <a:bodyPr/>
                    <a:lstStyle/>
                    <a:p>
                      <a:pPr algn="ctr"/>
                      <a:r>
                        <a:rPr sz="800" b="1">
                          <a:solidFill>
                            <a:srgbClr val="FFFFFF"/>
                          </a:solidFill>
                          <a:latin typeface="Arial"/>
                        </a:rPr>
                        <a:t>iROAS</a:t>
                      </a:r>
                    </a:p>
                  </a:txBody>
                  <a:tcPr>
                    <a:solidFill>
                      <a:srgbClr val="163D5D"/>
                    </a:solidFill>
                  </a:tcPr>
                </a:tc>
                <a:tc>
                  <a:txBody>
                    <a:bodyPr/>
                    <a:lstStyle/>
                    <a:p>
                      <a:pPr algn="ctr"/>
                      <a:r>
                        <a:rPr sz="800" b="1">
                          <a:solidFill>
                            <a:srgbClr val="FFFFFF"/>
                          </a:solidFill>
                          <a:latin typeface="Arial"/>
                        </a:rPr>
                        <a:t>Incr. Rev</a:t>
                      </a:r>
                    </a:p>
                  </a:txBody>
                  <a:tcPr>
                    <a:solidFill>
                      <a:srgbClr val="163D5D"/>
                    </a:solidFill>
                  </a:tcPr>
                </a:tc>
                <a:extLst>
                  <a:ext uri="{0D108BD9-81ED-4DB2-BD59-A6C34878D82A}">
                    <a16:rowId xmlns:a16="http://schemas.microsoft.com/office/drawing/2014/main" val="10000"/>
                  </a:ext>
                </a:extLst>
              </a:tr>
              <a:tr h="779780">
                <a:tc>
                  <a:txBody>
                    <a:bodyPr/>
                    <a:lstStyle/>
                    <a:p>
                      <a:pPr algn="l"/>
                      <a:r>
                        <a:rPr sz="800" b="0">
                          <a:solidFill>
                            <a:srgbClr val="FFFFFF"/>
                          </a:solidFill>
                          <a:latin typeface="Arial"/>
                        </a:rPr>
                        <a:t>CGPO Winter Sale 2026</a:t>
                      </a:r>
                    </a:p>
                  </a:txBody>
                  <a:tcPr>
                    <a:solidFill>
                      <a:srgbClr val="00C5C1"/>
                    </a:solidFill>
                  </a:tcPr>
                </a:tc>
                <a:tc>
                  <a:txBody>
                    <a:bodyPr/>
                    <a:lstStyle/>
                    <a:p>
                      <a:pPr algn="l"/>
                      <a:r>
                        <a:rPr sz="800" b="0">
                          <a:solidFill>
                            <a:srgbClr val="FFFFFF"/>
                          </a:solidFill>
                          <a:latin typeface="Arial"/>
                        </a:rPr>
                        <a:t>Winter 2025–26</a:t>
                      </a:r>
                    </a:p>
                  </a:txBody>
                  <a:tcPr>
                    <a:solidFill>
                      <a:srgbClr val="00C5C1"/>
                    </a:solidFill>
                  </a:tcPr>
                </a:tc>
                <a:tc>
                  <a:txBody>
                    <a:bodyPr/>
                    <a:lstStyle/>
                    <a:p>
                      <a:pPr algn="ctr"/>
                      <a:r>
                        <a:rPr sz="800" b="0">
                          <a:solidFill>
                            <a:srgbClr val="FFFFFF"/>
                          </a:solidFill>
                          <a:latin typeface="Arial"/>
                        </a:rPr>
                        <a:t>$53,143</a:t>
                      </a:r>
                    </a:p>
                  </a:txBody>
                  <a:tcPr>
                    <a:solidFill>
                      <a:srgbClr val="00C5C1"/>
                    </a:solidFill>
                  </a:tcPr>
                </a:tc>
                <a:tc>
                  <a:txBody>
                    <a:bodyPr/>
                    <a:lstStyle/>
                    <a:p>
                      <a:pPr algn="ctr"/>
                      <a:r>
                        <a:rPr sz="800" b="0">
                          <a:solidFill>
                            <a:srgbClr val="FFFFFF"/>
                          </a:solidFill>
                          <a:latin typeface="Arial"/>
                        </a:rPr>
                        <a:t>98K</a:t>
                      </a:r>
                    </a:p>
                  </a:txBody>
                  <a:tcPr>
                    <a:solidFill>
                      <a:srgbClr val="00C5C1"/>
                    </a:solidFill>
                  </a:tcPr>
                </a:tc>
                <a:tc>
                  <a:txBody>
                    <a:bodyPr/>
                    <a:lstStyle/>
                    <a:p>
                      <a:pPr algn="ctr"/>
                      <a:r>
                        <a:rPr sz="800" b="0">
                          <a:solidFill>
                            <a:srgbClr val="FFFFFF"/>
                          </a:solidFill>
                          <a:latin typeface="Arial"/>
                        </a:rPr>
                        <a:t>+70.2%</a:t>
                      </a:r>
                    </a:p>
                  </a:txBody>
                  <a:tcPr>
                    <a:solidFill>
                      <a:srgbClr val="00C5C1"/>
                    </a:solidFill>
                  </a:tcPr>
                </a:tc>
                <a:tc>
                  <a:txBody>
                    <a:bodyPr/>
                    <a:lstStyle/>
                    <a:p>
                      <a:pPr algn="ctr"/>
                      <a:r>
                        <a:rPr sz="800" b="0">
                          <a:solidFill>
                            <a:srgbClr val="FFFFFF"/>
                          </a:solidFill>
                          <a:latin typeface="Arial"/>
                        </a:rPr>
                        <a:t>15.4x</a:t>
                      </a:r>
                    </a:p>
                  </a:txBody>
                  <a:tcPr>
                    <a:solidFill>
                      <a:srgbClr val="00C5C1"/>
                    </a:solidFill>
                  </a:tcPr>
                </a:tc>
                <a:tc>
                  <a:txBody>
                    <a:bodyPr/>
                    <a:lstStyle/>
                    <a:p>
                      <a:pPr algn="ctr"/>
                      <a:r>
                        <a:rPr sz="800" b="0">
                          <a:solidFill>
                            <a:srgbClr val="FFFFFF"/>
                          </a:solidFill>
                          <a:latin typeface="Arial"/>
                        </a:rPr>
                        <a:t>$817K</a:t>
                      </a:r>
                    </a:p>
                  </a:txBody>
                  <a:tcPr>
                    <a:solidFill>
                      <a:srgbClr val="00C5C1"/>
                    </a:solidFill>
                  </a:tcPr>
                </a:tc>
                <a:extLst>
                  <a:ext uri="{0D108BD9-81ED-4DB2-BD59-A6C34878D82A}">
                    <a16:rowId xmlns:a16="http://schemas.microsoft.com/office/drawing/2014/main" val="10001"/>
                  </a:ext>
                </a:extLst>
              </a:tr>
              <a:tr h="779780">
                <a:tc>
                  <a:txBody>
                    <a:bodyPr/>
                    <a:lstStyle/>
                    <a:p>
                      <a:pPr algn="l"/>
                      <a:r>
                        <a:rPr sz="800" b="0">
                          <a:solidFill>
                            <a:srgbClr val="163D5D"/>
                          </a:solidFill>
                          <a:latin typeface="Arial"/>
                        </a:rPr>
                        <a:t>CGPO Spring Sale 2026</a:t>
                      </a:r>
                    </a:p>
                  </a:txBody>
                  <a:tcPr>
                    <a:solidFill>
                      <a:srgbClr val="CADCFC"/>
                    </a:solidFill>
                  </a:tcPr>
                </a:tc>
                <a:tc>
                  <a:txBody>
                    <a:bodyPr/>
                    <a:lstStyle/>
                    <a:p>
                      <a:pPr algn="l"/>
                      <a:r>
                        <a:rPr sz="800" b="0">
                          <a:solidFill>
                            <a:srgbClr val="163D5D"/>
                          </a:solidFill>
                          <a:latin typeface="Arial"/>
                        </a:rPr>
                        <a:t>Spring 2026</a:t>
                      </a:r>
                    </a:p>
                  </a:txBody>
                  <a:tcPr>
                    <a:solidFill>
                      <a:srgbClr val="CADCFC"/>
                    </a:solidFill>
                  </a:tcPr>
                </a:tc>
                <a:tc>
                  <a:txBody>
                    <a:bodyPr/>
                    <a:lstStyle/>
                    <a:p>
                      <a:pPr algn="ctr"/>
                      <a:r>
                        <a:rPr sz="800" b="0">
                          <a:solidFill>
                            <a:srgbClr val="163D5D"/>
                          </a:solidFill>
                          <a:latin typeface="Arial"/>
                        </a:rPr>
                        <a:t>$53,800</a:t>
                      </a:r>
                    </a:p>
                  </a:txBody>
                  <a:tcPr>
                    <a:solidFill>
                      <a:srgbClr val="CADCFC"/>
                    </a:solidFill>
                  </a:tcPr>
                </a:tc>
                <a:tc>
                  <a:txBody>
                    <a:bodyPr/>
                    <a:lstStyle/>
                    <a:p>
                      <a:pPr algn="ctr"/>
                      <a:r>
                        <a:rPr sz="800" b="0">
                          <a:solidFill>
                            <a:srgbClr val="163D5D"/>
                          </a:solidFill>
                          <a:latin typeface="Arial"/>
                        </a:rPr>
                        <a:t>100K</a:t>
                      </a:r>
                    </a:p>
                  </a:txBody>
                  <a:tcPr>
                    <a:solidFill>
                      <a:srgbClr val="CADCFC"/>
                    </a:solidFill>
                  </a:tcPr>
                </a:tc>
                <a:tc>
                  <a:txBody>
                    <a:bodyPr/>
                    <a:lstStyle/>
                    <a:p>
                      <a:pPr algn="ctr"/>
                      <a:r>
                        <a:rPr sz="800" b="0">
                          <a:solidFill>
                            <a:srgbClr val="163D5D"/>
                          </a:solidFill>
                          <a:latin typeface="Arial"/>
                        </a:rPr>
                        <a:t>+26.3%</a:t>
                      </a:r>
                    </a:p>
                  </a:txBody>
                  <a:tcPr>
                    <a:solidFill>
                      <a:srgbClr val="CADCFC"/>
                    </a:solidFill>
                  </a:tcPr>
                </a:tc>
                <a:tc>
                  <a:txBody>
                    <a:bodyPr/>
                    <a:lstStyle/>
                    <a:p>
                      <a:pPr algn="ctr"/>
                      <a:r>
                        <a:rPr sz="800" b="0">
                          <a:solidFill>
                            <a:srgbClr val="163D5D"/>
                          </a:solidFill>
                          <a:latin typeface="Arial"/>
                        </a:rPr>
                        <a:t>8.7x</a:t>
                      </a:r>
                    </a:p>
                  </a:txBody>
                  <a:tcPr>
                    <a:solidFill>
                      <a:srgbClr val="CADCFC"/>
                    </a:solidFill>
                  </a:tcPr>
                </a:tc>
                <a:tc>
                  <a:txBody>
                    <a:bodyPr/>
                    <a:lstStyle/>
                    <a:p>
                      <a:pPr algn="ctr"/>
                      <a:r>
                        <a:rPr sz="800" b="0">
                          <a:solidFill>
                            <a:srgbClr val="163D5D"/>
                          </a:solidFill>
                          <a:latin typeface="Arial"/>
                        </a:rPr>
                        <a:t>$468K</a:t>
                      </a:r>
                    </a:p>
                  </a:txBody>
                  <a:tcPr>
                    <a:solidFill>
                      <a:srgbClr val="CADCFC"/>
                    </a:solidFill>
                  </a:tcPr>
                </a:tc>
                <a:extLst>
                  <a:ext uri="{0D108BD9-81ED-4DB2-BD59-A6C34878D82A}">
                    <a16:rowId xmlns:a16="http://schemas.microsoft.com/office/drawing/2014/main" val="10002"/>
                  </a:ext>
                </a:extLst>
              </a:tr>
              <a:tr h="779780">
                <a:tc>
                  <a:txBody>
                    <a:bodyPr/>
                    <a:lstStyle/>
                    <a:p>
                      <a:pPr algn="l"/>
                      <a:r>
                        <a:rPr sz="800" b="0">
                          <a:solidFill>
                            <a:srgbClr val="163D5D"/>
                          </a:solidFill>
                          <a:latin typeface="Arial"/>
                        </a:rPr>
                        <a:t>CGPO Summer Sale 2026</a:t>
                      </a:r>
                    </a:p>
                  </a:txBody>
                  <a:tcPr>
                    <a:solidFill>
                      <a:srgbClr val="CADCFC"/>
                    </a:solidFill>
                  </a:tcPr>
                </a:tc>
                <a:tc>
                  <a:txBody>
                    <a:bodyPr/>
                    <a:lstStyle/>
                    <a:p>
                      <a:pPr algn="l"/>
                      <a:r>
                        <a:rPr sz="800" b="0">
                          <a:solidFill>
                            <a:srgbClr val="163D5D"/>
                          </a:solidFill>
                          <a:latin typeface="Arial"/>
                        </a:rPr>
                        <a:t>Summer 2026</a:t>
                      </a:r>
                    </a:p>
                  </a:txBody>
                  <a:tcPr>
                    <a:solidFill>
                      <a:srgbClr val="CADCFC"/>
                    </a:solidFill>
                  </a:tcPr>
                </a:tc>
                <a:tc>
                  <a:txBody>
                    <a:bodyPr/>
                    <a:lstStyle/>
                    <a:p>
                      <a:pPr algn="ctr"/>
                      <a:r>
                        <a:rPr sz="800" b="0">
                          <a:solidFill>
                            <a:srgbClr val="163D5D"/>
                          </a:solidFill>
                          <a:latin typeface="Arial"/>
                        </a:rPr>
                        <a:t>$56,570</a:t>
                      </a:r>
                    </a:p>
                  </a:txBody>
                  <a:tcPr>
                    <a:solidFill>
                      <a:srgbClr val="CADCFC"/>
                    </a:solidFill>
                  </a:tcPr>
                </a:tc>
                <a:tc>
                  <a:txBody>
                    <a:bodyPr/>
                    <a:lstStyle/>
                    <a:p>
                      <a:pPr algn="ctr"/>
                      <a:r>
                        <a:rPr sz="800" b="0">
                          <a:solidFill>
                            <a:srgbClr val="163D5D"/>
                          </a:solidFill>
                          <a:latin typeface="Arial"/>
                        </a:rPr>
                        <a:t>100K</a:t>
                      </a:r>
                    </a:p>
                  </a:txBody>
                  <a:tcPr>
                    <a:solidFill>
                      <a:srgbClr val="CADCFC"/>
                    </a:solidFill>
                  </a:tcPr>
                </a:tc>
                <a:tc>
                  <a:txBody>
                    <a:bodyPr/>
                    <a:lstStyle/>
                    <a:p>
                      <a:pPr algn="ctr"/>
                      <a:r>
                        <a:rPr sz="800" b="0">
                          <a:solidFill>
                            <a:srgbClr val="163D5D"/>
                          </a:solidFill>
                          <a:latin typeface="Arial"/>
                        </a:rPr>
                        <a:t>+72.6%</a:t>
                      </a:r>
                    </a:p>
                  </a:txBody>
                  <a:tcPr>
                    <a:solidFill>
                      <a:srgbClr val="CADCFC"/>
                    </a:solidFill>
                  </a:tcPr>
                </a:tc>
                <a:tc>
                  <a:txBody>
                    <a:bodyPr/>
                    <a:lstStyle/>
                    <a:p>
                      <a:pPr algn="ctr"/>
                      <a:r>
                        <a:rPr sz="800" b="0">
                          <a:solidFill>
                            <a:srgbClr val="163D5D"/>
                          </a:solidFill>
                          <a:latin typeface="Arial"/>
                        </a:rPr>
                        <a:t>6.94x</a:t>
                      </a:r>
                    </a:p>
                  </a:txBody>
                  <a:tcPr>
                    <a:solidFill>
                      <a:srgbClr val="CADCFC"/>
                    </a:solidFill>
                  </a:tcPr>
                </a:tc>
                <a:tc>
                  <a:txBody>
                    <a:bodyPr/>
                    <a:lstStyle/>
                    <a:p>
                      <a:pPr algn="ctr"/>
                      <a:r>
                        <a:rPr sz="800" b="0">
                          <a:solidFill>
                            <a:srgbClr val="163D5D"/>
                          </a:solidFill>
                          <a:latin typeface="Arial"/>
                        </a:rPr>
                        <a:t>$392K</a:t>
                      </a:r>
                    </a:p>
                  </a:txBody>
                  <a:tcPr>
                    <a:solidFill>
                      <a:srgbClr val="CADCFC"/>
                    </a:solidFill>
                  </a:tcPr>
                </a:tc>
                <a:extLst>
                  <a:ext uri="{0D108BD9-81ED-4DB2-BD59-A6C34878D82A}">
                    <a16:rowId xmlns:a16="http://schemas.microsoft.com/office/drawing/2014/main" val="10003"/>
                  </a:ext>
                </a:extLst>
              </a:tr>
              <a:tr h="779780">
                <a:tc>
                  <a:txBody>
                    <a:bodyPr/>
                    <a:lstStyle/>
                    <a:p>
                      <a:pPr algn="l"/>
                      <a:r>
                        <a:rPr sz="800" b="1">
                          <a:solidFill>
                            <a:srgbClr val="FFFFFF"/>
                          </a:solidFill>
                          <a:latin typeface="Arial"/>
                        </a:rPr>
                        <a:t>TOTAL</a:t>
                      </a:r>
                    </a:p>
                  </a:txBody>
                  <a:tcPr>
                    <a:solidFill>
                      <a:srgbClr val="1E4768"/>
                    </a:solidFill>
                  </a:tcPr>
                </a:tc>
                <a:tc>
                  <a:txBody>
                    <a:bodyPr/>
                    <a:lstStyle/>
                    <a:p>
                      <a:pPr algn="l"/>
                      <a:r>
                        <a:rPr sz="800" b="1">
                          <a:solidFill>
                            <a:srgbClr val="FFFFFF"/>
                          </a:solidFill>
                          <a:latin typeface="Arial"/>
                        </a:rPr>
                        <a:t>All 2026</a:t>
                      </a:r>
                    </a:p>
                  </a:txBody>
                  <a:tcPr>
                    <a:solidFill>
                      <a:srgbClr val="1E4768"/>
                    </a:solidFill>
                  </a:tcPr>
                </a:tc>
                <a:tc>
                  <a:txBody>
                    <a:bodyPr/>
                    <a:lstStyle/>
                    <a:p>
                      <a:pPr algn="ctr"/>
                      <a:r>
                        <a:rPr sz="800" b="1">
                          <a:solidFill>
                            <a:srgbClr val="FFFFFF"/>
                          </a:solidFill>
                          <a:latin typeface="Arial"/>
                        </a:rPr>
                        <a:t>$163,513</a:t>
                      </a:r>
                    </a:p>
                  </a:txBody>
                  <a:tcPr>
                    <a:solidFill>
                      <a:srgbClr val="1E4768"/>
                    </a:solidFill>
                  </a:tcPr>
                </a:tc>
                <a:tc>
                  <a:txBody>
                    <a:bodyPr/>
                    <a:lstStyle/>
                    <a:p>
                      <a:pPr algn="ctr"/>
                      <a:r>
                        <a:rPr sz="800" b="1">
                          <a:solidFill>
                            <a:srgbClr val="FFFFFF"/>
                          </a:solidFill>
                          <a:latin typeface="Arial"/>
                        </a:rPr>
                        <a:t>298K</a:t>
                      </a:r>
                    </a:p>
                  </a:txBody>
                  <a:tcPr>
                    <a:solidFill>
                      <a:srgbClr val="1E4768"/>
                    </a:solidFill>
                  </a:tcPr>
                </a:tc>
                <a:tc>
                  <a:txBody>
                    <a:bodyPr/>
                    <a:lstStyle/>
                    <a:p>
                      <a:pPr algn="ctr"/>
                      <a:r>
                        <a:rPr sz="800" b="1">
                          <a:solidFill>
                            <a:srgbClr val="FFFFFF"/>
                          </a:solidFill>
                          <a:latin typeface="Arial"/>
                        </a:rPr>
                        <a:t>+56.4%</a:t>
                      </a:r>
                    </a:p>
                  </a:txBody>
                  <a:tcPr>
                    <a:solidFill>
                      <a:srgbClr val="1E4768"/>
                    </a:solidFill>
                  </a:tcPr>
                </a:tc>
                <a:tc>
                  <a:txBody>
                    <a:bodyPr/>
                    <a:lstStyle/>
                    <a:p>
                      <a:pPr algn="ctr"/>
                      <a:r>
                        <a:rPr sz="800" b="1">
                          <a:solidFill>
                            <a:srgbClr val="FFFFFF"/>
                          </a:solidFill>
                          <a:latin typeface="Arial"/>
                        </a:rPr>
                        <a:t>10.2x</a:t>
                      </a:r>
                    </a:p>
                  </a:txBody>
                  <a:tcPr>
                    <a:solidFill>
                      <a:srgbClr val="1E4768"/>
                    </a:solidFill>
                  </a:tcPr>
                </a:tc>
                <a:tc>
                  <a:txBody>
                    <a:bodyPr/>
                    <a:lstStyle/>
                    <a:p>
                      <a:pPr algn="ctr"/>
                      <a:r>
                        <a:rPr sz="800" b="1">
                          <a:solidFill>
                            <a:srgbClr val="FFFFFF"/>
                          </a:solidFill>
                          <a:latin typeface="Arial"/>
                        </a:rPr>
                        <a:t>$1.68M</a:t>
                      </a:r>
                    </a:p>
                  </a:txBody>
                  <a:tcPr>
                    <a:solidFill>
                      <a:srgbClr val="1E4768"/>
                    </a:solidFill>
                  </a:tcPr>
                </a:tc>
                <a:extLst>
                  <a:ext uri="{0D108BD9-81ED-4DB2-BD59-A6C34878D82A}">
                    <a16:rowId xmlns:a16="http://schemas.microsoft.com/office/drawing/2014/main" val="10004"/>
                  </a:ext>
                </a:extLst>
              </a:tr>
            </a:tbl>
          </a:graphicData>
        </a:graphic>
      </p:graphicFrame>
      <p:sp>
        <p:nvSpPr>
          <p:cNvPr id="30" name="TextBox 29"/>
          <p:cNvSpPr txBox="1"/>
          <p:nvPr/>
        </p:nvSpPr>
        <p:spPr>
          <a:xfrm>
            <a:off x="5029200" y="6492240"/>
            <a:ext cx="7086600" cy="320040"/>
          </a:xfrm>
          <a:prstGeom prst="rect">
            <a:avLst/>
          </a:prstGeom>
          <a:noFill/>
        </p:spPr>
        <p:txBody>
          <a:bodyPr wrap="square">
            <a:spAutoFit/>
          </a:bodyPr>
          <a:lstStyle/>
          <a:p>
            <a:pPr algn="l"/>
            <a:r>
              <a:rPr sz="650" b="0" i="1">
                <a:solidFill>
                  <a:srgbClr val="5A7A8A"/>
                </a:solidFill>
                <a:latin typeface="Arial"/>
              </a:rPr>
              <a:t>Volume-weighted metrics. iROAS = Incremental Revenue / Spend. All campaigns 29–45 day attribution.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EAF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58368"/>
          </a:xfrm>
          <a:prstGeom prst="rect">
            <a:avLst/>
          </a:prstGeom>
          <a:solidFill>
            <a:srgbClr val="163D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28600" y="91440"/>
            <a:ext cx="11731752" cy="566928"/>
          </a:xfrm>
          <a:prstGeom prst="rect">
            <a:avLst/>
          </a:prstGeom>
          <a:noFill/>
        </p:spPr>
        <p:txBody>
          <a:bodyPr wrap="square">
            <a:spAutoFit/>
          </a:bodyPr>
          <a:lstStyle/>
          <a:p>
            <a:pPr algn="ctr"/>
            <a:r>
              <a:rPr sz="1300" b="1" i="0">
                <a:solidFill>
                  <a:srgbClr val="00C5C1"/>
                </a:solidFill>
                <a:latin typeface="Arial"/>
              </a:rPr>
              <a:t>iROAS is driven by BOTH CVR Lift AND AOV advantage — not just conversion rate alone.</a:t>
            </a:r>
          </a:p>
        </p:txBody>
      </p:sp>
      <p:sp>
        <p:nvSpPr>
          <p:cNvPr id="5" name="Rectangle 4"/>
          <p:cNvSpPr/>
          <p:nvPr/>
        </p:nvSpPr>
        <p:spPr>
          <a:xfrm>
            <a:off x="0" y="6565392"/>
            <a:ext cx="12188952" cy="292608"/>
          </a:xfrm>
          <a:prstGeom prst="rect">
            <a:avLst/>
          </a:prstGeom>
          <a:solidFill>
            <a:srgbClr val="00C5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2880" y="6601968"/>
            <a:ext cx="11823192" cy="219456"/>
          </a:xfrm>
          <a:prstGeom prst="rect">
            <a:avLst/>
          </a:prstGeom>
          <a:noFill/>
        </p:spPr>
        <p:txBody>
          <a:bodyPr wrap="square">
            <a:spAutoFit/>
          </a:bodyPr>
          <a:lstStyle/>
          <a:p>
            <a:pPr algn="l"/>
            <a:r>
              <a:rPr sz="700" b="0" i="0">
                <a:solidFill>
                  <a:srgbClr val="163D5D"/>
                </a:solidFill>
                <a:latin typeface="Arial"/>
              </a:rPr>
              <a:t>Campaign: qkARQNEM · ykjlvBOV · qVAQYvDV   |   Data pulled: 2026-10-05</a:t>
            </a:r>
          </a:p>
        </p:txBody>
      </p:sp>
      <p:sp>
        <p:nvSpPr>
          <p:cNvPr id="7" name="Rectangle 6"/>
          <p:cNvSpPr/>
          <p:nvPr/>
        </p:nvSpPr>
        <p:spPr>
          <a:xfrm>
            <a:off x="137160" y="822960"/>
            <a:ext cx="5120640" cy="5678424"/>
          </a:xfrm>
          <a:prstGeom prst="rect">
            <a:avLst/>
          </a:prstGeom>
          <a:solidFill>
            <a:srgbClr val="163D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932688"/>
            <a:ext cx="4846320" cy="292608"/>
          </a:xfrm>
          <a:prstGeom prst="rect">
            <a:avLst/>
          </a:prstGeom>
          <a:noFill/>
        </p:spPr>
        <p:txBody>
          <a:bodyPr wrap="square">
            <a:spAutoFit/>
          </a:bodyPr>
          <a:lstStyle/>
          <a:p>
            <a:pPr algn="l"/>
            <a:r>
              <a:rPr sz="1100" b="1" i="0">
                <a:solidFill>
                  <a:srgbClr val="00C5C1"/>
                </a:solidFill>
                <a:latin typeface="Arial"/>
              </a:rPr>
              <a:t>Program Evolution</a:t>
            </a:r>
          </a:p>
        </p:txBody>
      </p:sp>
      <p:sp>
        <p:nvSpPr>
          <p:cNvPr id="9" name="Rectangle 8"/>
          <p:cNvSpPr/>
          <p:nvPr/>
        </p:nvSpPr>
        <p:spPr>
          <a:xfrm>
            <a:off x="301752" y="1325880"/>
            <a:ext cx="109728" cy="109728"/>
          </a:xfrm>
          <a:prstGeom prst="rect">
            <a:avLst/>
          </a:prstGeom>
          <a:solidFill>
            <a:srgbClr val="00C5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33756" y="1435608"/>
            <a:ext cx="36576" cy="1005840"/>
          </a:xfrm>
          <a:prstGeom prst="rect">
            <a:avLst/>
          </a:prstGeom>
          <a:solidFill>
            <a:srgbClr val="5A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84632" y="1307592"/>
            <a:ext cx="4617720" cy="201168"/>
          </a:xfrm>
          <a:prstGeom prst="rect">
            <a:avLst/>
          </a:prstGeom>
          <a:noFill/>
        </p:spPr>
        <p:txBody>
          <a:bodyPr wrap="square">
            <a:spAutoFit/>
          </a:bodyPr>
          <a:lstStyle/>
          <a:p>
            <a:pPr algn="l"/>
            <a:r>
              <a:rPr sz="900" b="1" i="0">
                <a:solidFill>
                  <a:srgbClr val="00C5C1"/>
                </a:solidFill>
                <a:latin typeface="Arial"/>
              </a:rPr>
              <a:t>Winter 2026</a:t>
            </a:r>
          </a:p>
        </p:txBody>
      </p:sp>
      <p:sp>
        <p:nvSpPr>
          <p:cNvPr id="12" name="TextBox 11"/>
          <p:cNvSpPr txBox="1"/>
          <p:nvPr/>
        </p:nvSpPr>
        <p:spPr>
          <a:xfrm>
            <a:off x="484632" y="1508760"/>
            <a:ext cx="4617720" cy="182880"/>
          </a:xfrm>
          <a:prstGeom prst="rect">
            <a:avLst/>
          </a:prstGeom>
          <a:noFill/>
        </p:spPr>
        <p:txBody>
          <a:bodyPr wrap="square">
            <a:spAutoFit/>
          </a:bodyPr>
          <a:lstStyle/>
          <a:p>
            <a:pPr algn="l"/>
            <a:r>
              <a:rPr sz="850" b="1" i="0">
                <a:solidFill>
                  <a:srgbClr val="FFFFFF"/>
                </a:solidFill>
                <a:latin typeface="Arial"/>
              </a:rPr>
              <a:t>$817K Incr. Rev  |  15.4x iROAS</a:t>
            </a:r>
          </a:p>
        </p:txBody>
      </p:sp>
      <p:sp>
        <p:nvSpPr>
          <p:cNvPr id="13" name="TextBox 12"/>
          <p:cNvSpPr txBox="1"/>
          <p:nvPr/>
        </p:nvSpPr>
        <p:spPr>
          <a:xfrm>
            <a:off x="484632" y="1691640"/>
            <a:ext cx="4617720" cy="323165"/>
          </a:xfrm>
          <a:prstGeom prst="rect">
            <a:avLst/>
          </a:prstGeom>
          <a:noFill/>
        </p:spPr>
        <p:txBody>
          <a:bodyPr wrap="square">
            <a:spAutoFit/>
          </a:bodyPr>
          <a:lstStyle/>
          <a:p>
            <a:pPr algn="l"/>
            <a:r>
              <a:rPr sz="750" b="0" i="0" dirty="0">
                <a:solidFill>
                  <a:srgbClr val="B0D8D8"/>
                </a:solidFill>
                <a:latin typeface="Arial"/>
              </a:rPr>
              <a:t>First campaign. Gen</a:t>
            </a:r>
            <a:r>
              <a:rPr lang="en-US" sz="750" b="0" i="0" dirty="0">
                <a:solidFill>
                  <a:srgbClr val="B0D8D8"/>
                </a:solidFill>
                <a:latin typeface="Arial"/>
              </a:rPr>
              <a:t>eral</a:t>
            </a:r>
            <a:r>
              <a:rPr sz="750" b="0" i="0" dirty="0">
                <a:solidFill>
                  <a:srgbClr val="B0D8D8"/>
                </a:solidFill>
                <a:latin typeface="Arial"/>
              </a:rPr>
              <a:t> models deployed — Gen</a:t>
            </a:r>
            <a:r>
              <a:rPr lang="en-US" sz="750" b="0" i="0" dirty="0">
                <a:solidFill>
                  <a:srgbClr val="B0D8D8"/>
                </a:solidFill>
                <a:latin typeface="Arial"/>
              </a:rPr>
              <a:t>eral</a:t>
            </a:r>
            <a:r>
              <a:rPr sz="750" b="0" i="0" dirty="0">
                <a:solidFill>
                  <a:srgbClr val="B0D8D8"/>
                </a:solidFill>
                <a:latin typeface="Arial"/>
              </a:rPr>
              <a:t> </a:t>
            </a:r>
            <a:r>
              <a:rPr lang="en-US" sz="750" b="0" i="0" dirty="0">
                <a:solidFill>
                  <a:srgbClr val="B0D8D8"/>
                </a:solidFill>
                <a:latin typeface="Arial"/>
              </a:rPr>
              <a:t>Model</a:t>
            </a:r>
            <a:r>
              <a:rPr sz="750" b="0" i="0" dirty="0">
                <a:solidFill>
                  <a:srgbClr val="B0D8D8"/>
                </a:solidFill>
                <a:latin typeface="Arial"/>
              </a:rPr>
              <a:t>182 achieved 27.0x, the highest in program history. Gen vs. Client comparison proved definitive: scale Gen</a:t>
            </a:r>
            <a:r>
              <a:rPr lang="en-US" sz="750" b="0" i="0" dirty="0">
                <a:solidFill>
                  <a:srgbClr val="B0D8D8"/>
                </a:solidFill>
                <a:latin typeface="Arial"/>
              </a:rPr>
              <a:t>eral</a:t>
            </a:r>
            <a:r>
              <a:rPr sz="750" b="0" i="0" dirty="0">
                <a:solidFill>
                  <a:srgbClr val="B0D8D8"/>
                </a:solidFill>
                <a:latin typeface="Arial"/>
              </a:rPr>
              <a:t> </a:t>
            </a:r>
            <a:r>
              <a:rPr lang="en-US" sz="750" b="0" i="0" dirty="0">
                <a:solidFill>
                  <a:srgbClr val="B0D8D8"/>
                </a:solidFill>
                <a:latin typeface="Arial"/>
              </a:rPr>
              <a:t>models</a:t>
            </a:r>
            <a:endParaRPr sz="750" b="0" i="0" dirty="0">
              <a:solidFill>
                <a:srgbClr val="B0D8D8"/>
              </a:solidFill>
              <a:latin typeface="Arial"/>
            </a:endParaRPr>
          </a:p>
        </p:txBody>
      </p:sp>
      <p:sp>
        <p:nvSpPr>
          <p:cNvPr id="14" name="Rectangle 13"/>
          <p:cNvSpPr/>
          <p:nvPr/>
        </p:nvSpPr>
        <p:spPr>
          <a:xfrm>
            <a:off x="301752" y="2496312"/>
            <a:ext cx="109728" cy="109728"/>
          </a:xfrm>
          <a:prstGeom prst="rect">
            <a:avLst/>
          </a:prstGeom>
          <a:solidFill>
            <a:srgbClr val="00C5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33756" y="2606040"/>
            <a:ext cx="36576" cy="1005840"/>
          </a:xfrm>
          <a:prstGeom prst="rect">
            <a:avLst/>
          </a:prstGeom>
          <a:solidFill>
            <a:srgbClr val="5A7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4632" y="2478024"/>
            <a:ext cx="4617720" cy="201168"/>
          </a:xfrm>
          <a:prstGeom prst="rect">
            <a:avLst/>
          </a:prstGeom>
          <a:noFill/>
        </p:spPr>
        <p:txBody>
          <a:bodyPr wrap="square">
            <a:spAutoFit/>
          </a:bodyPr>
          <a:lstStyle/>
          <a:p>
            <a:pPr algn="l"/>
            <a:r>
              <a:rPr sz="900" b="1" i="0">
                <a:solidFill>
                  <a:srgbClr val="00C5C1"/>
                </a:solidFill>
                <a:latin typeface="Arial"/>
              </a:rPr>
              <a:t>Spring 2026</a:t>
            </a:r>
          </a:p>
        </p:txBody>
      </p:sp>
      <p:sp>
        <p:nvSpPr>
          <p:cNvPr id="17" name="TextBox 16"/>
          <p:cNvSpPr txBox="1"/>
          <p:nvPr/>
        </p:nvSpPr>
        <p:spPr>
          <a:xfrm>
            <a:off x="484632" y="2679192"/>
            <a:ext cx="4617720" cy="182880"/>
          </a:xfrm>
          <a:prstGeom prst="rect">
            <a:avLst/>
          </a:prstGeom>
          <a:noFill/>
        </p:spPr>
        <p:txBody>
          <a:bodyPr wrap="square">
            <a:spAutoFit/>
          </a:bodyPr>
          <a:lstStyle/>
          <a:p>
            <a:pPr algn="l"/>
            <a:r>
              <a:rPr sz="850" b="1" i="0">
                <a:solidFill>
                  <a:srgbClr val="FFFFFF"/>
                </a:solidFill>
                <a:latin typeface="Arial"/>
              </a:rPr>
              <a:t>$468K Incr. Rev  |  8.7x iROAS</a:t>
            </a:r>
          </a:p>
        </p:txBody>
      </p:sp>
      <p:sp>
        <p:nvSpPr>
          <p:cNvPr id="18" name="TextBox 17"/>
          <p:cNvSpPr txBox="1"/>
          <p:nvPr/>
        </p:nvSpPr>
        <p:spPr>
          <a:xfrm>
            <a:off x="484632" y="2862072"/>
            <a:ext cx="4617720" cy="323165"/>
          </a:xfrm>
          <a:prstGeom prst="rect">
            <a:avLst/>
          </a:prstGeom>
          <a:noFill/>
        </p:spPr>
        <p:txBody>
          <a:bodyPr wrap="square">
            <a:spAutoFit/>
          </a:bodyPr>
          <a:lstStyle/>
          <a:p>
            <a:pPr algn="l"/>
            <a:r>
              <a:rPr sz="750" b="0" i="0" dirty="0">
                <a:solidFill>
                  <a:srgbClr val="B0D8D8"/>
                </a:solidFill>
                <a:latin typeface="Arial"/>
              </a:rPr>
              <a:t>Broadened config testing across 7 models. 20K iterations consistently outperformed 10K, identifying M</a:t>
            </a:r>
            <a:r>
              <a:rPr lang="en-US" sz="750" b="0" i="0" dirty="0">
                <a:solidFill>
                  <a:srgbClr val="B0D8D8"/>
                </a:solidFill>
                <a:latin typeface="Arial"/>
              </a:rPr>
              <a:t>o</a:t>
            </a:r>
            <a:r>
              <a:rPr sz="750" b="0" i="0" dirty="0">
                <a:solidFill>
                  <a:srgbClr val="B0D8D8"/>
                </a:solidFill>
                <a:latin typeface="Arial"/>
              </a:rPr>
              <a:t>d</a:t>
            </a:r>
            <a:r>
              <a:rPr lang="en-US" sz="750" b="0" i="0" dirty="0">
                <a:solidFill>
                  <a:srgbClr val="B0D8D8"/>
                </a:solidFill>
                <a:latin typeface="Arial"/>
              </a:rPr>
              <a:t>e</a:t>
            </a:r>
            <a:r>
              <a:rPr sz="750" b="0" i="0" dirty="0">
                <a:solidFill>
                  <a:srgbClr val="B0D8D8"/>
                </a:solidFill>
                <a:latin typeface="Arial"/>
              </a:rPr>
              <a:t>l 338 and M</a:t>
            </a:r>
            <a:r>
              <a:rPr lang="en-US" sz="750" b="0" i="0" dirty="0">
                <a:solidFill>
                  <a:srgbClr val="B0D8D8"/>
                </a:solidFill>
                <a:latin typeface="Arial"/>
              </a:rPr>
              <a:t>o</a:t>
            </a:r>
            <a:r>
              <a:rPr sz="750" b="0" i="0" dirty="0">
                <a:solidFill>
                  <a:srgbClr val="B0D8D8"/>
                </a:solidFill>
                <a:latin typeface="Arial"/>
              </a:rPr>
              <a:t>d</a:t>
            </a:r>
            <a:r>
              <a:rPr lang="en-US" sz="750" b="0" i="0" dirty="0">
                <a:solidFill>
                  <a:srgbClr val="B0D8D8"/>
                </a:solidFill>
                <a:latin typeface="Arial"/>
              </a:rPr>
              <a:t>e</a:t>
            </a:r>
            <a:r>
              <a:rPr sz="750" b="0" i="0" dirty="0">
                <a:solidFill>
                  <a:srgbClr val="B0D8D8"/>
                </a:solidFill>
                <a:latin typeface="Arial"/>
              </a:rPr>
              <a:t>l 184 as </a:t>
            </a:r>
            <a:r>
              <a:rPr lang="en-US" sz="750" b="0" i="0" dirty="0">
                <a:solidFill>
                  <a:srgbClr val="B0D8D8"/>
                </a:solidFill>
                <a:latin typeface="Arial"/>
              </a:rPr>
              <a:t>control</a:t>
            </a:r>
            <a:r>
              <a:rPr sz="750" b="0" i="0" dirty="0">
                <a:solidFill>
                  <a:srgbClr val="B0D8D8"/>
                </a:solidFill>
                <a:latin typeface="Arial"/>
              </a:rPr>
              <a:t> configurations.</a:t>
            </a:r>
          </a:p>
        </p:txBody>
      </p:sp>
      <p:sp>
        <p:nvSpPr>
          <p:cNvPr id="19" name="Rectangle 18"/>
          <p:cNvSpPr/>
          <p:nvPr/>
        </p:nvSpPr>
        <p:spPr>
          <a:xfrm>
            <a:off x="301752" y="3666744"/>
            <a:ext cx="109728" cy="109728"/>
          </a:xfrm>
          <a:prstGeom prst="rect">
            <a:avLst/>
          </a:prstGeom>
          <a:solidFill>
            <a:srgbClr val="00C5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84632" y="3648456"/>
            <a:ext cx="4617720" cy="201168"/>
          </a:xfrm>
          <a:prstGeom prst="rect">
            <a:avLst/>
          </a:prstGeom>
          <a:noFill/>
        </p:spPr>
        <p:txBody>
          <a:bodyPr wrap="square">
            <a:spAutoFit/>
          </a:bodyPr>
          <a:lstStyle/>
          <a:p>
            <a:pPr algn="l"/>
            <a:r>
              <a:rPr sz="900" b="1" i="0">
                <a:solidFill>
                  <a:srgbClr val="00C5C1"/>
                </a:solidFill>
                <a:latin typeface="Arial"/>
              </a:rPr>
              <a:t>Summer 2026</a:t>
            </a:r>
          </a:p>
        </p:txBody>
      </p:sp>
      <p:sp>
        <p:nvSpPr>
          <p:cNvPr id="21" name="TextBox 20"/>
          <p:cNvSpPr txBox="1"/>
          <p:nvPr/>
        </p:nvSpPr>
        <p:spPr>
          <a:xfrm>
            <a:off x="484632" y="3849624"/>
            <a:ext cx="4617720" cy="182880"/>
          </a:xfrm>
          <a:prstGeom prst="rect">
            <a:avLst/>
          </a:prstGeom>
          <a:noFill/>
        </p:spPr>
        <p:txBody>
          <a:bodyPr wrap="square">
            <a:spAutoFit/>
          </a:bodyPr>
          <a:lstStyle/>
          <a:p>
            <a:pPr algn="l"/>
            <a:r>
              <a:rPr sz="850" b="1" i="0">
                <a:solidFill>
                  <a:srgbClr val="FFFFFF"/>
                </a:solidFill>
                <a:latin typeface="Arial"/>
              </a:rPr>
              <a:t>$392K Incr. Rev  |  6.94x iROAS</a:t>
            </a:r>
          </a:p>
        </p:txBody>
      </p:sp>
      <p:sp>
        <p:nvSpPr>
          <p:cNvPr id="22" name="TextBox 21"/>
          <p:cNvSpPr txBox="1"/>
          <p:nvPr/>
        </p:nvSpPr>
        <p:spPr>
          <a:xfrm>
            <a:off x="484632" y="4032504"/>
            <a:ext cx="4617720" cy="323165"/>
          </a:xfrm>
          <a:prstGeom prst="rect">
            <a:avLst/>
          </a:prstGeom>
          <a:noFill/>
        </p:spPr>
        <p:txBody>
          <a:bodyPr wrap="square">
            <a:spAutoFit/>
          </a:bodyPr>
          <a:lstStyle/>
          <a:p>
            <a:pPr algn="l"/>
            <a:r>
              <a:rPr lang="en-US" sz="750" b="0" i="0" dirty="0">
                <a:solidFill>
                  <a:srgbClr val="B0D8D8"/>
                </a:solidFill>
                <a:latin typeface="Arial"/>
              </a:rPr>
              <a:t>Control</a:t>
            </a:r>
            <a:r>
              <a:rPr sz="750" b="0" i="0" dirty="0">
                <a:solidFill>
                  <a:srgbClr val="B0D8D8"/>
                </a:solidFill>
                <a:latin typeface="Arial"/>
              </a:rPr>
              <a:t> configs confirmed across second campaign. Three new models introduced — M</a:t>
            </a:r>
            <a:r>
              <a:rPr lang="en-US" sz="750" b="0" i="0" dirty="0">
                <a:solidFill>
                  <a:srgbClr val="B0D8D8"/>
                </a:solidFill>
                <a:latin typeface="Arial"/>
              </a:rPr>
              <a:t>o</a:t>
            </a:r>
            <a:r>
              <a:rPr sz="750" b="0" i="0" dirty="0">
                <a:solidFill>
                  <a:srgbClr val="B0D8D8"/>
                </a:solidFill>
                <a:latin typeface="Arial"/>
              </a:rPr>
              <a:t>d</a:t>
            </a:r>
            <a:r>
              <a:rPr lang="en-US" sz="750" b="0" i="0" dirty="0">
                <a:solidFill>
                  <a:srgbClr val="B0D8D8"/>
                </a:solidFill>
                <a:latin typeface="Arial"/>
              </a:rPr>
              <a:t>e</a:t>
            </a:r>
            <a:r>
              <a:rPr sz="750" b="0" i="0" dirty="0">
                <a:solidFill>
                  <a:srgbClr val="B0D8D8"/>
                </a:solidFill>
                <a:latin typeface="Arial"/>
              </a:rPr>
              <a:t>l 399 showed early promise at 5.59x. Pipeline continues to build.</a:t>
            </a:r>
          </a:p>
        </p:txBody>
      </p:sp>
      <p:sp>
        <p:nvSpPr>
          <p:cNvPr id="23" name="Rectangle 22"/>
          <p:cNvSpPr/>
          <p:nvPr/>
        </p:nvSpPr>
        <p:spPr>
          <a:xfrm>
            <a:off x="274320" y="5952744"/>
            <a:ext cx="4846320" cy="384048"/>
          </a:xfrm>
          <a:prstGeom prst="rect">
            <a:avLst/>
          </a:prstGeom>
          <a:solidFill>
            <a:srgbClr val="1E47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38328" y="6007608"/>
            <a:ext cx="4709160" cy="246221"/>
          </a:xfrm>
          <a:prstGeom prst="rect">
            <a:avLst/>
          </a:prstGeom>
          <a:noFill/>
        </p:spPr>
        <p:txBody>
          <a:bodyPr wrap="square">
            <a:spAutoFit/>
          </a:bodyPr>
          <a:lstStyle/>
          <a:p>
            <a:pPr algn="l"/>
            <a:r>
              <a:rPr sz="1000" b="1" i="0" dirty="0">
                <a:solidFill>
                  <a:srgbClr val="00C5C1"/>
                </a:solidFill>
                <a:latin typeface="Arial"/>
              </a:rPr>
              <a:t>$1.68M cumulative incremental revenue across 3 campaigns</a:t>
            </a:r>
          </a:p>
        </p:txBody>
      </p:sp>
      <p:sp>
        <p:nvSpPr>
          <p:cNvPr id="25" name="Rectangle 24"/>
          <p:cNvSpPr/>
          <p:nvPr/>
        </p:nvSpPr>
        <p:spPr>
          <a:xfrm>
            <a:off x="5486400" y="822960"/>
            <a:ext cx="6565392" cy="56784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650992" y="932688"/>
            <a:ext cx="6245352" cy="292608"/>
          </a:xfrm>
          <a:prstGeom prst="rect">
            <a:avLst/>
          </a:prstGeom>
          <a:noFill/>
        </p:spPr>
        <p:txBody>
          <a:bodyPr wrap="square">
            <a:spAutoFit/>
          </a:bodyPr>
          <a:lstStyle/>
          <a:p>
            <a:pPr algn="l"/>
            <a:r>
              <a:rPr sz="1100" b="1" i="0">
                <a:solidFill>
                  <a:srgbClr val="163D5D"/>
                </a:solidFill>
                <a:latin typeface="Arial"/>
              </a:rPr>
              <a:t>Key Program Insight</a:t>
            </a:r>
          </a:p>
        </p:txBody>
      </p:sp>
      <p:sp>
        <p:nvSpPr>
          <p:cNvPr id="27" name="TextBox 26"/>
          <p:cNvSpPr txBox="1"/>
          <p:nvPr/>
        </p:nvSpPr>
        <p:spPr>
          <a:xfrm>
            <a:off x="5650992" y="1298448"/>
            <a:ext cx="6245352" cy="246221"/>
          </a:xfrm>
          <a:prstGeom prst="rect">
            <a:avLst/>
          </a:prstGeom>
          <a:noFill/>
        </p:spPr>
        <p:txBody>
          <a:bodyPr wrap="square">
            <a:spAutoFit/>
          </a:bodyPr>
          <a:lstStyle/>
          <a:p>
            <a:pPr algn="l"/>
            <a:r>
              <a:rPr sz="1000" b="1" i="1" dirty="0">
                <a:solidFill>
                  <a:srgbClr val="00C5C1"/>
                </a:solidFill>
                <a:latin typeface="Arial"/>
              </a:rPr>
              <a:t>Winter set the standard. Spring mapped the config space. Summer confirmed </a:t>
            </a:r>
            <a:r>
              <a:rPr lang="en-US" sz="1000" b="1" i="1" dirty="0">
                <a:solidFill>
                  <a:srgbClr val="00C5C1"/>
                </a:solidFill>
                <a:latin typeface="Arial"/>
              </a:rPr>
              <a:t>controls</a:t>
            </a:r>
            <a:r>
              <a:rPr sz="1000" b="1" i="1" dirty="0">
                <a:solidFill>
                  <a:srgbClr val="00C5C1"/>
                </a:solidFill>
                <a:latin typeface="Arial"/>
              </a:rPr>
              <a:t>.</a:t>
            </a:r>
          </a:p>
        </p:txBody>
      </p:sp>
      <p:sp>
        <p:nvSpPr>
          <p:cNvPr id="28" name="TextBox 27"/>
          <p:cNvSpPr txBox="1"/>
          <p:nvPr/>
        </p:nvSpPr>
        <p:spPr>
          <a:xfrm>
            <a:off x="5650992" y="1874520"/>
            <a:ext cx="6245352" cy="3495957"/>
          </a:xfrm>
          <a:prstGeom prst="rect">
            <a:avLst/>
          </a:prstGeom>
          <a:noFill/>
        </p:spPr>
        <p:txBody>
          <a:bodyPr wrap="square">
            <a:spAutoFit/>
          </a:bodyPr>
          <a:lstStyle/>
          <a:p>
            <a:pPr algn="l"/>
            <a:r>
              <a:rPr sz="819" b="0" i="0" dirty="0">
                <a:solidFill>
                  <a:srgbClr val="1E4768"/>
                </a:solidFill>
                <a:latin typeface="Arial"/>
              </a:rPr>
              <a:t>The CGPO program demonstrates a clear learning curve — each campaign building on what the previous one revealed.
Winter 2026 set the standard: Gen</a:t>
            </a:r>
            <a:r>
              <a:rPr lang="en-US" sz="819" b="0" i="0" dirty="0">
                <a:solidFill>
                  <a:srgbClr val="1E4768"/>
                </a:solidFill>
                <a:latin typeface="Arial"/>
              </a:rPr>
              <a:t>eral</a:t>
            </a:r>
            <a:r>
              <a:rPr sz="819" b="0" i="0" dirty="0">
                <a:solidFill>
                  <a:srgbClr val="1E4768"/>
                </a:solidFill>
                <a:latin typeface="Arial"/>
              </a:rPr>
              <a:t> models were deployed against Client models in a direct comparison, and the results were unambiguous. Gen</a:t>
            </a:r>
            <a:r>
              <a:rPr lang="en-US" sz="819" b="0" i="0" dirty="0">
                <a:solidFill>
                  <a:srgbClr val="1E4768"/>
                </a:solidFill>
                <a:latin typeface="Arial"/>
              </a:rPr>
              <a:t>eral Model</a:t>
            </a:r>
            <a:r>
              <a:rPr sz="819" b="0" i="0" dirty="0">
                <a:solidFill>
                  <a:srgbClr val="1E4768"/>
                </a:solidFill>
                <a:latin typeface="Arial"/>
              </a:rPr>
              <a:t> 182 delivered 27.0x </a:t>
            </a:r>
            <a:r>
              <a:rPr sz="819" b="0" i="0" dirty="0" err="1">
                <a:solidFill>
                  <a:srgbClr val="1E4768"/>
                </a:solidFill>
                <a:latin typeface="Arial"/>
              </a:rPr>
              <a:t>iROAS</a:t>
            </a:r>
            <a:r>
              <a:rPr sz="819" b="0" i="0" dirty="0">
                <a:solidFill>
                  <a:srgbClr val="1E4768"/>
                </a:solidFill>
                <a:latin typeface="Arial"/>
              </a:rPr>
              <a:t> and $817K — the strongest single-campaign result in program history. The Gen</a:t>
            </a:r>
            <a:r>
              <a:rPr lang="en-US" sz="819" b="0" i="0" dirty="0">
                <a:solidFill>
                  <a:srgbClr val="1E4768"/>
                </a:solidFill>
                <a:latin typeface="Arial"/>
              </a:rPr>
              <a:t>eral</a:t>
            </a:r>
            <a:r>
              <a:rPr sz="819" b="0" i="0" dirty="0">
                <a:solidFill>
                  <a:srgbClr val="1E4768"/>
                </a:solidFill>
                <a:latin typeface="Arial"/>
              </a:rPr>
              <a:t> vs. Client </a:t>
            </a:r>
            <a:r>
              <a:rPr lang="en-US" sz="819" b="0" i="0" dirty="0">
                <a:solidFill>
                  <a:srgbClr val="1E4768"/>
                </a:solidFill>
                <a:latin typeface="Arial"/>
              </a:rPr>
              <a:t>model </a:t>
            </a:r>
            <a:r>
              <a:rPr sz="819" b="0" i="0" dirty="0">
                <a:solidFill>
                  <a:srgbClr val="1E4768"/>
                </a:solidFill>
                <a:latin typeface="Arial"/>
              </a:rPr>
              <a:t>split proved definitively which model type to scale.
Spring 2026 expanded the configuration space. Seven models were tested across varying epoch, iteration, and step combinations — the broadest config</a:t>
            </a:r>
            <a:r>
              <a:rPr lang="en-US" sz="819" b="0" i="0" dirty="0">
                <a:solidFill>
                  <a:srgbClr val="1E4768"/>
                </a:solidFill>
                <a:latin typeface="Arial"/>
              </a:rPr>
              <a:t>uration</a:t>
            </a:r>
            <a:r>
              <a:rPr sz="819" b="0" i="0" dirty="0">
                <a:solidFill>
                  <a:srgbClr val="1E4768"/>
                </a:solidFill>
                <a:latin typeface="Arial"/>
              </a:rPr>
              <a:t> test in the program. 20K iterations outperformed 10K across every comparison. M</a:t>
            </a:r>
            <a:r>
              <a:rPr lang="en-US" sz="819" b="0" i="0" dirty="0">
                <a:solidFill>
                  <a:srgbClr val="1E4768"/>
                </a:solidFill>
                <a:latin typeface="Arial"/>
              </a:rPr>
              <a:t>o</a:t>
            </a:r>
            <a:r>
              <a:rPr sz="819" b="0" i="0" dirty="0">
                <a:solidFill>
                  <a:srgbClr val="1E4768"/>
                </a:solidFill>
                <a:latin typeface="Arial"/>
              </a:rPr>
              <a:t>d</a:t>
            </a:r>
            <a:r>
              <a:rPr lang="en-US" sz="819" b="0" i="0" dirty="0">
                <a:solidFill>
                  <a:srgbClr val="1E4768"/>
                </a:solidFill>
                <a:latin typeface="Arial"/>
              </a:rPr>
              <a:t>e</a:t>
            </a:r>
            <a:r>
              <a:rPr sz="819" b="0" i="0" dirty="0">
                <a:solidFill>
                  <a:srgbClr val="1E4768"/>
                </a:solidFill>
                <a:latin typeface="Arial"/>
              </a:rPr>
              <a:t>l 338 (4E·20K·10S) and M</a:t>
            </a:r>
            <a:r>
              <a:rPr lang="en-US" sz="819" b="0" i="0" dirty="0">
                <a:solidFill>
                  <a:srgbClr val="1E4768"/>
                </a:solidFill>
                <a:latin typeface="Arial"/>
              </a:rPr>
              <a:t>o</a:t>
            </a:r>
            <a:r>
              <a:rPr sz="819" b="0" i="0" dirty="0">
                <a:solidFill>
                  <a:srgbClr val="1E4768"/>
                </a:solidFill>
                <a:latin typeface="Arial"/>
              </a:rPr>
              <a:t>d</a:t>
            </a:r>
            <a:r>
              <a:rPr lang="en-US" sz="819" b="0" i="0" dirty="0">
                <a:solidFill>
                  <a:srgbClr val="1E4768"/>
                </a:solidFill>
                <a:latin typeface="Arial"/>
              </a:rPr>
              <a:t>e</a:t>
            </a:r>
            <a:r>
              <a:rPr sz="819" b="0" i="0" dirty="0">
                <a:solidFill>
                  <a:srgbClr val="1E4768"/>
                </a:solidFill>
                <a:latin typeface="Arial"/>
              </a:rPr>
              <a:t>l 184 (6E·20K·5S) emerged as the configurations worth scaling.
Summer 2026 applied those learnings. The two proven anchors held up across their second consecutive campaign, confirming their value. Three new configurations were introduced alongside them — M</a:t>
            </a:r>
            <a:r>
              <a:rPr lang="en-US" sz="819" b="0" i="0" dirty="0">
                <a:solidFill>
                  <a:srgbClr val="1E4768"/>
                </a:solidFill>
                <a:latin typeface="Arial"/>
              </a:rPr>
              <a:t>o</a:t>
            </a:r>
            <a:r>
              <a:rPr sz="819" b="0" i="0" dirty="0">
                <a:solidFill>
                  <a:srgbClr val="1E4768"/>
                </a:solidFill>
                <a:latin typeface="Arial"/>
              </a:rPr>
              <a:t>d</a:t>
            </a:r>
            <a:r>
              <a:rPr lang="en-US" sz="819" b="0" i="0" dirty="0">
                <a:solidFill>
                  <a:srgbClr val="1E4768"/>
                </a:solidFill>
                <a:latin typeface="Arial"/>
              </a:rPr>
              <a:t>e</a:t>
            </a:r>
            <a:r>
              <a:rPr sz="819" b="0" i="0" dirty="0">
                <a:solidFill>
                  <a:srgbClr val="1E4768"/>
                </a:solidFill>
                <a:latin typeface="Arial"/>
              </a:rPr>
              <a:t>l 399 showed the most early promise at 5.59x. The program now has proven </a:t>
            </a:r>
            <a:r>
              <a:rPr lang="en-US" sz="819" b="0" i="0" dirty="0">
                <a:solidFill>
                  <a:srgbClr val="1E4768"/>
                </a:solidFill>
                <a:latin typeface="Arial"/>
              </a:rPr>
              <a:t>controls</a:t>
            </a:r>
            <a:r>
              <a:rPr sz="819" b="0" i="0" dirty="0">
                <a:solidFill>
                  <a:srgbClr val="1E4768"/>
                </a:solidFill>
                <a:latin typeface="Arial"/>
              </a:rPr>
              <a:t> and a pipeline of configurations still in testing.
Each campaign narrowed the field: Winter identified Gen</a:t>
            </a:r>
            <a:r>
              <a:rPr lang="en-US" sz="819" b="0" i="0" dirty="0">
                <a:solidFill>
                  <a:srgbClr val="1E4768"/>
                </a:solidFill>
                <a:latin typeface="Arial"/>
              </a:rPr>
              <a:t>eral</a:t>
            </a:r>
            <a:r>
              <a:rPr sz="819" b="0" i="0" dirty="0">
                <a:solidFill>
                  <a:srgbClr val="1E4768"/>
                </a:solidFill>
                <a:latin typeface="Arial"/>
              </a:rPr>
              <a:t> vs. Client. Spring identified 20K vs. 10K iterations. Summer confirmed the anchors and expanded the test set. </a:t>
            </a:r>
            <a:r>
              <a:rPr sz="819" b="1" i="0" dirty="0">
                <a:solidFill>
                  <a:srgbClr val="1E4768"/>
                </a:solidFill>
                <a:latin typeface="Arial"/>
              </a:rPr>
              <a:t>$1.68M cumulative — and the model continues to improve.
─────────────────────────────────────────────
Config Key
Epochs  ·  How much the model relies on proven strategies vs. exploring new ones. Higher = safer and more predictable; lower = more exploratory.</a:t>
            </a:r>
            <a:endParaRPr lang="en-US" sz="819" b="1" i="0" dirty="0">
              <a:solidFill>
                <a:srgbClr val="1E4768"/>
              </a:solidFill>
              <a:latin typeface="Arial"/>
            </a:endParaRPr>
          </a:p>
          <a:p>
            <a:pPr algn="l"/>
            <a:r>
              <a:rPr sz="819" b="1" i="0" dirty="0">
                <a:solidFill>
                  <a:srgbClr val="1E4768"/>
                </a:solidFill>
                <a:latin typeface="Arial"/>
              </a:rPr>
              <a:t>
Step Size  ·  How finely the model slices time when linking mail to purchase. Smaller step = broader time windows; larger step = more granular.</a:t>
            </a:r>
            <a:endParaRPr lang="en-US" sz="819" b="1" i="0" dirty="0">
              <a:solidFill>
                <a:srgbClr val="1E4768"/>
              </a:solidFill>
              <a:latin typeface="Arial"/>
            </a:endParaRPr>
          </a:p>
          <a:p>
            <a:pPr algn="l"/>
            <a:r>
              <a:rPr sz="819" b="1" i="0" dirty="0">
                <a:solidFill>
                  <a:srgbClr val="1E4768"/>
                </a:solidFill>
                <a:latin typeface="Arial"/>
              </a:rPr>
              <a:t>
Iterations  ·  How many practice rounds the model runs through your mailing history. More = better pattern recognition; too many = over-fitted to past results.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TotalTime>
  <Words>811</Words>
  <Application>Microsoft Macintosh PowerPoint</Application>
  <PresentationFormat>Custom</PresentationFormat>
  <Paragraphs>73</Paragraphs>
  <Slides>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Tara Donavanik</cp:lastModifiedBy>
  <cp:revision>4</cp:revision>
  <dcterms:created xsi:type="dcterms:W3CDTF">2013-01-27T09:14:16Z</dcterms:created>
  <dcterms:modified xsi:type="dcterms:W3CDTF">2026-10-07T23:11:11Z</dcterms:modified>
  <cp:category/>
</cp:coreProperties>
</file>