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873752" cy="6858000"/>
          </a:xfrm>
          <a:prstGeom prst="rect">
            <a:avLst/>
          </a:prstGeom>
          <a:solidFill>
            <a:srgbClr val="163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82880"/>
            <a:ext cx="4663440" cy="502920"/>
          </a:xfrm>
          <a:prstGeom prst="rect">
            <a:avLst/>
          </a:prstGeom>
          <a:noFill/>
        </p:spPr>
        <p:txBody>
          <a:bodyPr wrap="square">
            <a:spAutoFit/>
          </a:bodyPr>
          <a:lstStyle/>
          <a:p>
            <a:pPr algn="l"/>
            <a:r>
              <a:rPr sz="1800" b="1" i="0">
                <a:solidFill>
                  <a:srgbClr val="FFFFFF"/>
                </a:solidFill>
                <a:latin typeface="Arial"/>
              </a:rPr>
              <a:t>CG Program Summary 2026</a:t>
            </a:r>
          </a:p>
        </p:txBody>
      </p:sp>
      <p:sp>
        <p:nvSpPr>
          <p:cNvPr id="4" name="TextBox 3"/>
          <p:cNvSpPr txBox="1"/>
          <p:nvPr/>
        </p:nvSpPr>
        <p:spPr>
          <a:xfrm>
            <a:off x="182880" y="713232"/>
            <a:ext cx="4663440" cy="274320"/>
          </a:xfrm>
          <a:prstGeom prst="rect">
            <a:avLst/>
          </a:prstGeom>
          <a:noFill/>
        </p:spPr>
        <p:txBody>
          <a:bodyPr wrap="square">
            <a:spAutoFit/>
          </a:bodyPr>
          <a:lstStyle/>
          <a:p>
            <a:pPr algn="l"/>
            <a:r>
              <a:rPr sz="1000" b="1" i="0">
                <a:solidFill>
                  <a:srgbClr val="00C5C1"/>
                </a:solidFill>
                <a:latin typeface="Arial"/>
              </a:rPr>
              <a:t>Callaway Golf</a:t>
            </a:r>
          </a:p>
        </p:txBody>
      </p:sp>
      <p:sp>
        <p:nvSpPr>
          <p:cNvPr id="5" name="TextBox 4"/>
          <p:cNvSpPr txBox="1"/>
          <p:nvPr/>
        </p:nvSpPr>
        <p:spPr>
          <a:xfrm>
            <a:off x="182880" y="969264"/>
            <a:ext cx="4663440" cy="228600"/>
          </a:xfrm>
          <a:prstGeom prst="rect">
            <a:avLst/>
          </a:prstGeom>
          <a:noFill/>
        </p:spPr>
        <p:txBody>
          <a:bodyPr wrap="square">
            <a:spAutoFit/>
          </a:bodyPr>
          <a:lstStyle/>
          <a:p>
            <a:pPr algn="l"/>
            <a:r>
              <a:rPr sz="800" b="0" i="0">
                <a:solidFill>
                  <a:srgbClr val="B0D8D8"/>
                </a:solidFill>
                <a:latin typeface="Arial"/>
              </a:rPr>
              <a:t>Postie CRM Optimization</a:t>
            </a:r>
          </a:p>
        </p:txBody>
      </p:sp>
      <p:sp>
        <p:nvSpPr>
          <p:cNvPr id="6" name="Rectangle 5"/>
          <p:cNvSpPr/>
          <p:nvPr/>
        </p:nvSpPr>
        <p:spPr>
          <a:xfrm>
            <a:off x="182880" y="1261872"/>
            <a:ext cx="4663440" cy="19050"/>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1371600"/>
            <a:ext cx="1508760" cy="201168"/>
          </a:xfrm>
          <a:prstGeom prst="rect">
            <a:avLst/>
          </a:prstGeom>
          <a:noFill/>
        </p:spPr>
        <p:txBody>
          <a:bodyPr wrap="square">
            <a:spAutoFit/>
          </a:bodyPr>
          <a:lstStyle/>
          <a:p>
            <a:pPr algn="l"/>
            <a:r>
              <a:rPr sz="700" b="0" i="0">
                <a:solidFill>
                  <a:srgbClr val="B0D8D8"/>
                </a:solidFill>
                <a:latin typeface="Arial"/>
              </a:rPr>
              <a:t>Campaign iROAS</a:t>
            </a:r>
          </a:p>
        </p:txBody>
      </p:sp>
      <p:sp>
        <p:nvSpPr>
          <p:cNvPr id="8" name="TextBox 7"/>
          <p:cNvSpPr txBox="1"/>
          <p:nvPr/>
        </p:nvSpPr>
        <p:spPr>
          <a:xfrm>
            <a:off x="182880" y="1554480"/>
            <a:ext cx="1508760" cy="475488"/>
          </a:xfrm>
          <a:prstGeom prst="rect">
            <a:avLst/>
          </a:prstGeom>
          <a:noFill/>
        </p:spPr>
        <p:txBody>
          <a:bodyPr wrap="square">
            <a:spAutoFit/>
          </a:bodyPr>
          <a:lstStyle/>
          <a:p>
            <a:pPr algn="l"/>
            <a:r>
              <a:rPr sz="2200" b="1" i="0">
                <a:solidFill>
                  <a:srgbClr val="00C5C1"/>
                </a:solidFill>
                <a:latin typeface="Arial"/>
              </a:rPr>
              <a:t>1.95x</a:t>
            </a:r>
          </a:p>
        </p:txBody>
      </p:sp>
      <p:sp>
        <p:nvSpPr>
          <p:cNvPr id="9" name="TextBox 8"/>
          <p:cNvSpPr txBox="1"/>
          <p:nvPr/>
        </p:nvSpPr>
        <p:spPr>
          <a:xfrm>
            <a:off x="1801368" y="1371600"/>
            <a:ext cx="1508760" cy="201168"/>
          </a:xfrm>
          <a:prstGeom prst="rect">
            <a:avLst/>
          </a:prstGeom>
          <a:noFill/>
        </p:spPr>
        <p:txBody>
          <a:bodyPr wrap="square">
            <a:spAutoFit/>
          </a:bodyPr>
          <a:lstStyle/>
          <a:p>
            <a:pPr algn="l"/>
            <a:r>
              <a:rPr sz="700" b="0" i="0">
                <a:solidFill>
                  <a:srgbClr val="B0D8D8"/>
                </a:solidFill>
                <a:latin typeface="Arial"/>
              </a:rPr>
              <a:t>Total Incr. Rev</a:t>
            </a:r>
          </a:p>
        </p:txBody>
      </p:sp>
      <p:sp>
        <p:nvSpPr>
          <p:cNvPr id="10" name="TextBox 9"/>
          <p:cNvSpPr txBox="1"/>
          <p:nvPr/>
        </p:nvSpPr>
        <p:spPr>
          <a:xfrm>
            <a:off x="1801368" y="1554480"/>
            <a:ext cx="1508760" cy="475488"/>
          </a:xfrm>
          <a:prstGeom prst="rect">
            <a:avLst/>
          </a:prstGeom>
          <a:noFill/>
        </p:spPr>
        <p:txBody>
          <a:bodyPr wrap="square">
            <a:spAutoFit/>
          </a:bodyPr>
          <a:lstStyle/>
          <a:p>
            <a:pPr algn="l"/>
            <a:r>
              <a:rPr sz="2200" b="1" i="0">
                <a:solidFill>
                  <a:srgbClr val="00C5C1"/>
                </a:solidFill>
                <a:latin typeface="Arial"/>
              </a:rPr>
              <a:t>$105K</a:t>
            </a:r>
          </a:p>
        </p:txBody>
      </p:sp>
      <p:sp>
        <p:nvSpPr>
          <p:cNvPr id="11" name="TextBox 10"/>
          <p:cNvSpPr txBox="1"/>
          <p:nvPr/>
        </p:nvSpPr>
        <p:spPr>
          <a:xfrm>
            <a:off x="3410712" y="1371600"/>
            <a:ext cx="1508760" cy="201168"/>
          </a:xfrm>
          <a:prstGeom prst="rect">
            <a:avLst/>
          </a:prstGeom>
          <a:noFill/>
        </p:spPr>
        <p:txBody>
          <a:bodyPr wrap="square">
            <a:spAutoFit/>
          </a:bodyPr>
          <a:lstStyle/>
          <a:p>
            <a:pPr algn="l"/>
            <a:r>
              <a:rPr sz="700" b="0" i="0">
                <a:solidFill>
                  <a:srgbClr val="B0D8D8"/>
                </a:solidFill>
                <a:latin typeface="Arial"/>
              </a:rPr>
              <a:t>Total Spend</a:t>
            </a:r>
          </a:p>
        </p:txBody>
      </p:sp>
      <p:sp>
        <p:nvSpPr>
          <p:cNvPr id="12" name="TextBox 11"/>
          <p:cNvSpPr txBox="1"/>
          <p:nvPr/>
        </p:nvSpPr>
        <p:spPr>
          <a:xfrm>
            <a:off x="3410712" y="1554480"/>
            <a:ext cx="1508760" cy="475488"/>
          </a:xfrm>
          <a:prstGeom prst="rect">
            <a:avLst/>
          </a:prstGeom>
          <a:noFill/>
        </p:spPr>
        <p:txBody>
          <a:bodyPr wrap="square">
            <a:spAutoFit/>
          </a:bodyPr>
          <a:lstStyle/>
          <a:p>
            <a:pPr algn="l"/>
            <a:r>
              <a:rPr sz="2200" b="1" i="0">
                <a:solidFill>
                  <a:srgbClr val="00C5C1"/>
                </a:solidFill>
                <a:latin typeface="Arial"/>
              </a:rPr>
              <a:t>$53,800</a:t>
            </a:r>
          </a:p>
        </p:txBody>
      </p:sp>
      <p:sp>
        <p:nvSpPr>
          <p:cNvPr id="13" name="Rectangle 12"/>
          <p:cNvSpPr/>
          <p:nvPr/>
        </p:nvSpPr>
        <p:spPr>
          <a:xfrm>
            <a:off x="182880" y="2121408"/>
            <a:ext cx="4663440" cy="19050"/>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 y="2212848"/>
            <a:ext cx="4663440" cy="1133856"/>
          </a:xfrm>
          <a:prstGeom prst="rect">
            <a:avLst/>
          </a:prstGeom>
          <a:solidFill>
            <a:srgbClr val="1C4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 y="2212848"/>
            <a:ext cx="64008" cy="1133856"/>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 y="2304288"/>
            <a:ext cx="4434840" cy="256032"/>
          </a:xfrm>
          <a:prstGeom prst="rect">
            <a:avLst/>
          </a:prstGeom>
          <a:noFill/>
        </p:spPr>
        <p:txBody>
          <a:bodyPr wrap="square">
            <a:spAutoFit/>
          </a:bodyPr>
          <a:lstStyle/>
          <a:p>
            <a:pPr algn="l"/>
            <a:r>
              <a:rPr sz="900" b="1" i="0">
                <a:solidFill>
                  <a:srgbClr val="FFFFFF"/>
                </a:solidFill>
                <a:latin typeface="Arial"/>
              </a:rPr>
              <a:t>Mdl 399 Shows the Path</a:t>
            </a:r>
          </a:p>
        </p:txBody>
      </p:sp>
      <p:sp>
        <p:nvSpPr>
          <p:cNvPr id="17" name="TextBox 16"/>
          <p:cNvSpPr txBox="1"/>
          <p:nvPr/>
        </p:nvSpPr>
        <p:spPr>
          <a:xfrm>
            <a:off x="338328" y="2560320"/>
            <a:ext cx="4434840" cy="731520"/>
          </a:xfrm>
          <a:prstGeom prst="rect">
            <a:avLst/>
          </a:prstGeom>
          <a:noFill/>
        </p:spPr>
        <p:txBody>
          <a:bodyPr wrap="square">
            <a:spAutoFit/>
          </a:bodyPr>
          <a:lstStyle/>
          <a:p>
            <a:pPr algn="l"/>
            <a:r>
              <a:rPr sz="800" b="0" i="0">
                <a:solidFill>
                  <a:srgbClr val="FFFFFF"/>
                </a:solidFill>
                <a:latin typeface="Arial"/>
              </a:rPr>
              <a:t>44.8x iROAS and $267K from a single audience in the first campaign is a strong foundation signal. Scale this config in the next run.</a:t>
            </a:r>
          </a:p>
        </p:txBody>
      </p:sp>
      <p:sp>
        <p:nvSpPr>
          <p:cNvPr id="18" name="Rectangle 17"/>
          <p:cNvSpPr/>
          <p:nvPr/>
        </p:nvSpPr>
        <p:spPr>
          <a:xfrm>
            <a:off x="182880" y="3438144"/>
            <a:ext cx="4663440" cy="1133856"/>
          </a:xfrm>
          <a:prstGeom prst="rect">
            <a:avLst/>
          </a:prstGeom>
          <a:solidFill>
            <a:srgbClr val="1C4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2880" y="3438144"/>
            <a:ext cx="64008" cy="1133856"/>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8" y="3529584"/>
            <a:ext cx="4434840" cy="256032"/>
          </a:xfrm>
          <a:prstGeom prst="rect">
            <a:avLst/>
          </a:prstGeom>
          <a:noFill/>
        </p:spPr>
        <p:txBody>
          <a:bodyPr wrap="square">
            <a:spAutoFit/>
          </a:bodyPr>
          <a:lstStyle/>
          <a:p>
            <a:pPr algn="l"/>
            <a:r>
              <a:rPr sz="900" b="1" i="0">
                <a:solidFill>
                  <a:srgbClr val="FFFFFF"/>
                </a:solidFill>
                <a:latin typeface="Arial"/>
              </a:rPr>
              <a:t>First Run = Exploration Map</a:t>
            </a:r>
          </a:p>
        </p:txBody>
      </p:sp>
      <p:sp>
        <p:nvSpPr>
          <p:cNvPr id="21" name="TextBox 20"/>
          <p:cNvSpPr txBox="1"/>
          <p:nvPr/>
        </p:nvSpPr>
        <p:spPr>
          <a:xfrm>
            <a:off x="338328" y="3785616"/>
            <a:ext cx="4434840" cy="731520"/>
          </a:xfrm>
          <a:prstGeom prst="rect">
            <a:avLst/>
          </a:prstGeom>
          <a:noFill/>
        </p:spPr>
        <p:txBody>
          <a:bodyPr wrap="square">
            <a:spAutoFit/>
          </a:bodyPr>
          <a:lstStyle/>
          <a:p>
            <a:pPr algn="l"/>
            <a:r>
              <a:rPr sz="800" b="0" i="0">
                <a:solidFill>
                  <a:srgbClr val="FFFFFF"/>
                </a:solidFill>
                <a:latin typeface="Arial"/>
              </a:rPr>
              <a:t>Wide variance (44.8x to -14.6x) confirms the model is still exploring. 2–3 more campaigns concentrating on Mdl 399 will compress variance.</a:t>
            </a:r>
          </a:p>
        </p:txBody>
      </p:sp>
      <p:sp>
        <p:nvSpPr>
          <p:cNvPr id="22" name="Rectangle 21"/>
          <p:cNvSpPr/>
          <p:nvPr/>
        </p:nvSpPr>
        <p:spPr>
          <a:xfrm>
            <a:off x="182880" y="4663440"/>
            <a:ext cx="4663440" cy="1133856"/>
          </a:xfrm>
          <a:prstGeom prst="rect">
            <a:avLst/>
          </a:prstGeom>
          <a:solidFill>
            <a:srgbClr val="1C4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4663440"/>
            <a:ext cx="64008" cy="1133856"/>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 y="4754880"/>
            <a:ext cx="4434840" cy="256032"/>
          </a:xfrm>
          <a:prstGeom prst="rect">
            <a:avLst/>
          </a:prstGeom>
          <a:noFill/>
        </p:spPr>
        <p:txBody>
          <a:bodyPr wrap="square">
            <a:spAutoFit/>
          </a:bodyPr>
          <a:lstStyle/>
          <a:p>
            <a:pPr algn="l"/>
            <a:r>
              <a:rPr sz="900" b="1" i="0">
                <a:solidFill>
                  <a:srgbClr val="FFFFFF"/>
                </a:solidFill>
                <a:latin typeface="Arial"/>
              </a:rPr>
              <a:t>Early Start = Compounding Advantage</a:t>
            </a:r>
          </a:p>
        </p:txBody>
      </p:sp>
      <p:sp>
        <p:nvSpPr>
          <p:cNvPr id="25" name="TextBox 24"/>
          <p:cNvSpPr txBox="1"/>
          <p:nvPr/>
        </p:nvSpPr>
        <p:spPr>
          <a:xfrm>
            <a:off x="338328" y="5010912"/>
            <a:ext cx="4434840" cy="731520"/>
          </a:xfrm>
          <a:prstGeom prst="rect">
            <a:avLst/>
          </a:prstGeom>
          <a:noFill/>
        </p:spPr>
        <p:txBody>
          <a:bodyPr wrap="square">
            <a:spAutoFit/>
          </a:bodyPr>
          <a:lstStyle/>
          <a:p>
            <a:pPr algn="l"/>
            <a:r>
              <a:rPr sz="800" b="0" i="0">
                <a:solidFill>
                  <a:srgbClr val="FFFFFF"/>
                </a:solidFill>
                <a:latin typeface="Arial"/>
              </a:rPr>
              <a:t>Starting the learning curve now means better predictions in 6 months. CGPO’s $1.68M program result started with a first campaign like this one.</a:t>
            </a:r>
          </a:p>
        </p:txBody>
      </p:sp>
      <p:sp>
        <p:nvSpPr>
          <p:cNvPr id="26" name="TextBox 25"/>
          <p:cNvSpPr txBox="1"/>
          <p:nvPr/>
        </p:nvSpPr>
        <p:spPr>
          <a:xfrm>
            <a:off x="182880" y="6446520"/>
            <a:ext cx="4663440" cy="320040"/>
          </a:xfrm>
          <a:prstGeom prst="rect">
            <a:avLst/>
          </a:prstGeom>
          <a:noFill/>
        </p:spPr>
        <p:txBody>
          <a:bodyPr wrap="square">
            <a:spAutoFit/>
          </a:bodyPr>
          <a:lstStyle/>
          <a:p>
            <a:pPr algn="l"/>
            <a:r>
              <a:rPr sz="650" b="0" i="0">
                <a:solidFill>
                  <a:srgbClr val="5A7A8A"/>
                </a:solidFill>
                <a:latin typeface="Arial"/>
              </a:rPr>
              <a:t>1 campaign  |  100K reach  |  May 2026</a:t>
            </a:r>
          </a:p>
        </p:txBody>
      </p:sp>
      <p:sp>
        <p:nvSpPr>
          <p:cNvPr id="27" name="Rectangle 26"/>
          <p:cNvSpPr/>
          <p:nvPr/>
        </p:nvSpPr>
        <p:spPr>
          <a:xfrm>
            <a:off x="4892040" y="0"/>
            <a:ext cx="72969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164592"/>
            <a:ext cx="7086600" cy="365760"/>
          </a:xfrm>
          <a:prstGeom prst="rect">
            <a:avLst/>
          </a:prstGeom>
          <a:noFill/>
        </p:spPr>
        <p:txBody>
          <a:bodyPr wrap="square">
            <a:spAutoFit/>
          </a:bodyPr>
          <a:lstStyle/>
          <a:p>
            <a:pPr algn="l"/>
            <a:r>
              <a:rPr sz="1400" b="1" i="0">
                <a:solidFill>
                  <a:srgbClr val="163D5D"/>
                </a:solidFill>
                <a:latin typeface="Arial"/>
              </a:rPr>
              <a:t>Campaign Performance Summary</a:t>
            </a:r>
          </a:p>
        </p:txBody>
      </p:sp>
      <p:graphicFrame>
        <p:nvGraphicFramePr>
          <p:cNvPr id="29" name="Table 28"/>
          <p:cNvGraphicFramePr>
            <a:graphicFrameLocks noGrp="1"/>
          </p:cNvGraphicFramePr>
          <p:nvPr/>
        </p:nvGraphicFramePr>
        <p:xfrm>
          <a:off x="5029200" y="594360"/>
          <a:ext cx="6976869" cy="2148840"/>
        </p:xfrm>
        <a:graphic>
          <a:graphicData uri="http://schemas.openxmlformats.org/drawingml/2006/table">
            <a:tbl>
              <a:tblPr firstRow="0" bandRow="0" lastRow="0" firstCol="0" lastCol="0" bandCol="0">
                <a:tableStyleId>{5C22544A-7EE6-4342-B048-85BDC9FD1C3A}</a:tableStyleId>
              </a:tblPr>
              <a:tblGrid>
                <a:gridCol w="1883755"/>
                <a:gridCol w="837224"/>
                <a:gridCol w="837224"/>
                <a:gridCol w="697687"/>
                <a:gridCol w="976762"/>
                <a:gridCol w="767455"/>
                <a:gridCol w="976762"/>
              </a:tblGrid>
              <a:tr h="355600">
                <a:tc>
                  <a:txBody>
                    <a:bodyPr wrap="none"/>
                    <a:lstStyle/>
                    <a:p>
                      <a:pPr algn="l"/>
                      <a:r>
                        <a:rPr sz="800" b="1">
                          <a:solidFill>
                            <a:srgbClr val="FFFFFF"/>
                          </a:solidFill>
                          <a:latin typeface="Arial"/>
                        </a:rPr>
                        <a:t>Campaign</a:t>
                      </a:r>
                    </a:p>
                  </a:txBody>
                  <a:tcPr>
                    <a:solidFill>
                      <a:srgbClr val="163D5D"/>
                    </a:solidFill>
                    <a:lnL w="0" cmpd="sng">
                      <a:noFill/>
                    </a:lnL>
                    <a:lnR w="0" cmpd="sng">
                      <a:noFill/>
                    </a:lnR>
                    <a:lnT w="0" cmpd="sng">
                      <a:noFill/>
                    </a:lnT>
                    <a:lnB w="0" cmpd="sng">
                      <a:noFill/>
                    </a:lnB>
                  </a:tcPr>
                </a:tc>
                <a:tc>
                  <a:txBody>
                    <a:bodyPr wrap="none"/>
                    <a:lstStyle/>
                    <a:p>
                      <a:pPr algn="l"/>
                      <a:r>
                        <a:rPr sz="800" b="1">
                          <a:solidFill>
                            <a:srgbClr val="FFFFFF"/>
                          </a:solidFill>
                          <a:latin typeface="Arial"/>
                        </a:rPr>
                        <a:t>Period</a:t>
                      </a:r>
                    </a:p>
                  </a:txBody>
                  <a:tcPr>
                    <a:solidFill>
                      <a:srgbClr val="163D5D"/>
                    </a:solidFill>
                    <a:lnL w="0" cmpd="sng">
                      <a:noFill/>
                    </a:lnL>
                    <a:lnR w="0" cmpd="sng">
                      <a:noFill/>
                    </a:lnR>
                    <a:lnT w="0" cmpd="sng">
                      <a:noFill/>
                    </a:lnT>
                    <a:lnB w="0" cmpd="sng">
                      <a:noFill/>
                    </a:lnB>
                  </a:tcPr>
                </a:tc>
                <a:tc>
                  <a:txBody>
                    <a:bodyPr wrap="none"/>
                    <a:lstStyle/>
                    <a:p>
                      <a:pPr algn="ctr"/>
                      <a:r>
                        <a:rPr sz="800" b="1">
                          <a:solidFill>
                            <a:srgbClr val="FFFFFF"/>
                          </a:solidFill>
                          <a:latin typeface="Arial"/>
                        </a:rPr>
                        <a:t>Spend</a:t>
                      </a:r>
                    </a:p>
                  </a:txBody>
                  <a:tcPr>
                    <a:solidFill>
                      <a:srgbClr val="163D5D"/>
                    </a:solidFill>
                    <a:lnL w="0" cmpd="sng">
                      <a:noFill/>
                    </a:lnL>
                    <a:lnR w="0" cmpd="sng">
                      <a:noFill/>
                    </a:lnR>
                    <a:lnT w="0" cmpd="sng">
                      <a:noFill/>
                    </a:lnT>
                    <a:lnB w="0" cmpd="sng">
                      <a:noFill/>
                    </a:lnB>
                  </a:tcPr>
                </a:tc>
                <a:tc>
                  <a:txBody>
                    <a:bodyPr wrap="none"/>
                    <a:lstStyle/>
                    <a:p>
                      <a:pPr algn="ctr"/>
                      <a:r>
                        <a:rPr sz="800" b="1">
                          <a:solidFill>
                            <a:srgbClr val="FFFFFF"/>
                          </a:solidFill>
                          <a:latin typeface="Arial"/>
                        </a:rPr>
                        <a:t>Reach</a:t>
                      </a:r>
                    </a:p>
                  </a:txBody>
                  <a:tcPr>
                    <a:solidFill>
                      <a:srgbClr val="163D5D"/>
                    </a:solidFill>
                    <a:lnL w="0" cmpd="sng">
                      <a:noFill/>
                    </a:lnL>
                    <a:lnR w="0" cmpd="sng">
                      <a:noFill/>
                    </a:lnR>
                    <a:lnT w="0" cmpd="sng">
                      <a:noFill/>
                    </a:lnT>
                    <a:lnB w="0" cmpd="sng">
                      <a:noFill/>
                    </a:lnB>
                  </a:tcPr>
                </a:tc>
                <a:tc>
                  <a:txBody>
                    <a:bodyPr wrap="none"/>
                    <a:lstStyle/>
                    <a:p>
                      <a:pPr algn="ctr"/>
                      <a:r>
                        <a:rPr sz="800" b="1">
                          <a:solidFill>
                            <a:srgbClr val="FFFFFF"/>
                          </a:solidFill>
                          <a:latin typeface="Arial"/>
                        </a:rPr>
                        <a:t>Wtd. CVR Lift</a:t>
                      </a:r>
                    </a:p>
                  </a:txBody>
                  <a:tcPr>
                    <a:solidFill>
                      <a:srgbClr val="163D5D"/>
                    </a:solidFill>
                    <a:lnL w="0" cmpd="sng">
                      <a:noFill/>
                    </a:lnL>
                    <a:lnR w="0" cmpd="sng">
                      <a:noFill/>
                    </a:lnR>
                    <a:lnT w="0" cmpd="sng">
                      <a:noFill/>
                    </a:lnT>
                    <a:lnB w="0" cmpd="sng">
                      <a:noFill/>
                    </a:lnB>
                  </a:tcPr>
                </a:tc>
                <a:tc>
                  <a:txBody>
                    <a:bodyPr wrap="none"/>
                    <a:lstStyle/>
                    <a:p>
                      <a:pPr algn="ctr"/>
                      <a:r>
                        <a:rPr sz="800" b="1">
                          <a:solidFill>
                            <a:srgbClr val="FFFFFF"/>
                          </a:solidFill>
                          <a:latin typeface="Arial"/>
                        </a:rPr>
                        <a:t>iROAS</a:t>
                      </a:r>
                    </a:p>
                  </a:txBody>
                  <a:tcPr>
                    <a:solidFill>
                      <a:srgbClr val="163D5D"/>
                    </a:solidFill>
                    <a:lnL w="0" cmpd="sng">
                      <a:noFill/>
                    </a:lnL>
                    <a:lnR w="0" cmpd="sng">
                      <a:noFill/>
                    </a:lnR>
                    <a:lnT w="0" cmpd="sng">
                      <a:noFill/>
                    </a:lnT>
                    <a:lnB w="0" cmpd="sng">
                      <a:noFill/>
                    </a:lnB>
                  </a:tcPr>
                </a:tc>
                <a:tc>
                  <a:txBody>
                    <a:bodyPr wrap="none"/>
                    <a:lstStyle/>
                    <a:p>
                      <a:pPr algn="ctr"/>
                      <a:r>
                        <a:rPr sz="800" b="1">
                          <a:solidFill>
                            <a:srgbClr val="FFFFFF"/>
                          </a:solidFill>
                          <a:latin typeface="Arial"/>
                        </a:rPr>
                        <a:t>Incr. Rev</a:t>
                      </a:r>
                    </a:p>
                  </a:txBody>
                  <a:tcPr>
                    <a:solidFill>
                      <a:srgbClr val="163D5D"/>
                    </a:solidFill>
                    <a:lnL w="0" cmpd="sng">
                      <a:noFill/>
                    </a:lnL>
                    <a:lnR w="0" cmpd="sng">
                      <a:noFill/>
                    </a:lnR>
                    <a:lnT w="0" cmpd="sng">
                      <a:noFill/>
                    </a:lnT>
                    <a:lnB w="0" cmpd="sng">
                      <a:noFill/>
                    </a:lnB>
                  </a:tcPr>
                </a:tc>
              </a:tr>
              <a:tr h="896620">
                <a:tc>
                  <a:txBody>
                    <a:bodyPr wrap="none"/>
                    <a:lstStyle/>
                    <a:p>
                      <a:pPr algn="l"/>
                      <a:r>
                        <a:rPr sz="800" b="0">
                          <a:solidFill>
                            <a:srgbClr val="163D5D"/>
                          </a:solidFill>
                          <a:latin typeface="Arial"/>
                        </a:rPr>
                        <a:t>CG Trade-In Bonus May 2026</a:t>
                      </a:r>
                    </a:p>
                  </a:txBody>
                  <a:tcPr>
                    <a:solidFill>
                      <a:srgbClr val="FFF3CD"/>
                    </a:solidFill>
                    <a:lnL w="0" cmpd="sng">
                      <a:noFill/>
                    </a:lnL>
                    <a:lnR w="0" cmpd="sng">
                      <a:noFill/>
                    </a:lnR>
                    <a:lnT w="0" cmpd="sng">
                      <a:noFill/>
                    </a:lnT>
                    <a:lnB w="0" cmpd="sng">
                      <a:noFill/>
                    </a:lnB>
                  </a:tcPr>
                </a:tc>
                <a:tc>
                  <a:txBody>
                    <a:bodyPr wrap="none"/>
                    <a:lstStyle/>
                    <a:p>
                      <a:pPr algn="l"/>
                      <a:r>
                        <a:rPr sz="800" b="0">
                          <a:solidFill>
                            <a:srgbClr val="163D5D"/>
                          </a:solidFill>
                          <a:latin typeface="Arial"/>
                        </a:rPr>
                        <a:t>May 2026</a:t>
                      </a:r>
                    </a:p>
                  </a:txBody>
                  <a:tcPr>
                    <a:solidFill>
                      <a:srgbClr val="FFF3CD"/>
                    </a:solidFill>
                    <a:lnL w="0" cmpd="sng">
                      <a:noFill/>
                    </a:lnL>
                    <a:lnR w="0" cmpd="sng">
                      <a:noFill/>
                    </a:lnR>
                    <a:lnT w="0" cmpd="sng">
                      <a:noFill/>
                    </a:lnT>
                    <a:lnB w="0" cmpd="sng">
                      <a:noFill/>
                    </a:lnB>
                  </a:tcPr>
                </a:tc>
                <a:tc>
                  <a:txBody>
                    <a:bodyPr wrap="none"/>
                    <a:lstStyle/>
                    <a:p>
                      <a:pPr algn="ctr"/>
                      <a:r>
                        <a:rPr sz="800" b="0">
                          <a:solidFill>
                            <a:srgbClr val="163D5D"/>
                          </a:solidFill>
                          <a:latin typeface="Arial"/>
                        </a:rPr>
                        <a:t>$53,800</a:t>
                      </a:r>
                    </a:p>
                  </a:txBody>
                  <a:tcPr>
                    <a:solidFill>
                      <a:srgbClr val="FFF3CD"/>
                    </a:solidFill>
                    <a:lnL w="0" cmpd="sng">
                      <a:noFill/>
                    </a:lnL>
                    <a:lnR w="0" cmpd="sng">
                      <a:noFill/>
                    </a:lnR>
                    <a:lnT w="0" cmpd="sng">
                      <a:noFill/>
                    </a:lnT>
                    <a:lnB w="0" cmpd="sng">
                      <a:noFill/>
                    </a:lnB>
                  </a:tcPr>
                </a:tc>
                <a:tc>
                  <a:txBody>
                    <a:bodyPr wrap="none"/>
                    <a:lstStyle/>
                    <a:p>
                      <a:pPr algn="ctr"/>
                      <a:r>
                        <a:rPr sz="800" b="0">
                          <a:solidFill>
                            <a:srgbClr val="163D5D"/>
                          </a:solidFill>
                          <a:latin typeface="Arial"/>
                        </a:rPr>
                        <a:t>100K</a:t>
                      </a:r>
                    </a:p>
                  </a:txBody>
                  <a:tcPr>
                    <a:solidFill>
                      <a:srgbClr val="FFF3CD"/>
                    </a:solidFill>
                    <a:lnL w="0" cmpd="sng">
                      <a:noFill/>
                    </a:lnL>
                    <a:lnR w="0" cmpd="sng">
                      <a:noFill/>
                    </a:lnR>
                    <a:lnT w="0" cmpd="sng">
                      <a:noFill/>
                    </a:lnT>
                    <a:lnB w="0" cmpd="sng">
                      <a:noFill/>
                    </a:lnB>
                  </a:tcPr>
                </a:tc>
                <a:tc>
                  <a:txBody>
                    <a:bodyPr wrap="none"/>
                    <a:lstStyle/>
                    <a:p>
                      <a:pPr algn="ctr"/>
                      <a:r>
                        <a:rPr sz="800" b="0">
                          <a:solidFill>
                            <a:srgbClr val="163D5D"/>
                          </a:solidFill>
                          <a:latin typeface="Arial"/>
                        </a:rPr>
                        <a:t>High Variance</a:t>
                      </a:r>
                    </a:p>
                  </a:txBody>
                  <a:tcPr>
                    <a:solidFill>
                      <a:srgbClr val="FFF3CD"/>
                    </a:solidFill>
                    <a:lnL w="0" cmpd="sng">
                      <a:noFill/>
                    </a:lnL>
                    <a:lnR w="0" cmpd="sng">
                      <a:noFill/>
                    </a:lnR>
                    <a:lnT w="0" cmpd="sng">
                      <a:noFill/>
                    </a:lnT>
                    <a:lnB w="0" cmpd="sng">
                      <a:noFill/>
                    </a:lnB>
                  </a:tcPr>
                </a:tc>
                <a:tc>
                  <a:txBody>
                    <a:bodyPr wrap="none"/>
                    <a:lstStyle/>
                    <a:p>
                      <a:pPr algn="ctr"/>
                      <a:r>
                        <a:rPr sz="800" b="0">
                          <a:solidFill>
                            <a:srgbClr val="163D5D"/>
                          </a:solidFill>
                          <a:latin typeface="Arial"/>
                        </a:rPr>
                        <a:t>1.95x</a:t>
                      </a:r>
                    </a:p>
                  </a:txBody>
                  <a:tcPr>
                    <a:solidFill>
                      <a:srgbClr val="FFF3CD"/>
                    </a:solidFill>
                    <a:lnL w="0" cmpd="sng">
                      <a:noFill/>
                    </a:lnL>
                    <a:lnR w="0" cmpd="sng">
                      <a:noFill/>
                    </a:lnR>
                    <a:lnT w="0" cmpd="sng">
                      <a:noFill/>
                    </a:lnT>
                    <a:lnB w="0" cmpd="sng">
                      <a:noFill/>
                    </a:lnB>
                  </a:tcPr>
                </a:tc>
                <a:tc>
                  <a:txBody>
                    <a:bodyPr wrap="none"/>
                    <a:lstStyle/>
                    <a:p>
                      <a:pPr algn="ctr"/>
                      <a:r>
                        <a:rPr sz="800" b="0">
                          <a:solidFill>
                            <a:srgbClr val="163D5D"/>
                          </a:solidFill>
                          <a:latin typeface="Arial"/>
                        </a:rPr>
                        <a:t>$105K</a:t>
                      </a:r>
                    </a:p>
                  </a:txBody>
                  <a:tcPr>
                    <a:solidFill>
                      <a:srgbClr val="FFF3CD"/>
                    </a:solidFill>
                    <a:lnL w="0" cmpd="sng">
                      <a:noFill/>
                    </a:lnL>
                    <a:lnR w="0" cmpd="sng">
                      <a:noFill/>
                    </a:lnR>
                    <a:lnT w="0" cmpd="sng">
                      <a:noFill/>
                    </a:lnT>
                    <a:lnB w="0" cmpd="sng">
                      <a:noFill/>
                    </a:lnB>
                  </a:tcPr>
                </a:tc>
              </a:tr>
              <a:tr h="896620">
                <a:tc>
                  <a:txBody>
                    <a:bodyPr wrap="none"/>
                    <a:lstStyle/>
                    <a:p>
                      <a:pPr algn="l"/>
                      <a:r>
                        <a:rPr sz="800" b="1">
                          <a:solidFill>
                            <a:srgbClr val="FFFFFF"/>
                          </a:solidFill>
                          <a:latin typeface="Arial"/>
                        </a:rPr>
                        <a:t>TOTAL (to date)</a:t>
                      </a:r>
                    </a:p>
                  </a:txBody>
                  <a:tcPr>
                    <a:solidFill>
                      <a:srgbClr val="1E4768"/>
                    </a:solidFill>
                    <a:lnL w="0" cmpd="sng">
                      <a:noFill/>
                    </a:lnL>
                    <a:lnR w="0" cmpd="sng">
                      <a:noFill/>
                    </a:lnR>
                    <a:lnT w="0" cmpd="sng">
                      <a:noFill/>
                    </a:lnT>
                    <a:lnB w="0" cmpd="sng">
                      <a:noFill/>
                    </a:lnB>
                  </a:tcPr>
                </a:tc>
                <a:tc>
                  <a:txBody>
                    <a:bodyPr wrap="none"/>
                    <a:lstStyle/>
                    <a:p>
                      <a:pPr algn="l"/>
                      <a:r>
                        <a:rPr sz="800" b="1">
                          <a:solidFill>
                            <a:srgbClr val="FFFFFF"/>
                          </a:solidFill>
                          <a:latin typeface="Arial"/>
                        </a:rPr>
                        <a:t>2026</a:t>
                      </a:r>
                    </a:p>
                  </a:txBody>
                  <a:tcPr>
                    <a:solidFill>
                      <a:srgbClr val="1E4768"/>
                    </a:solidFill>
                    <a:lnL w="0" cmpd="sng">
                      <a:noFill/>
                    </a:lnL>
                    <a:lnR w="0" cmpd="sng">
                      <a:noFill/>
                    </a:lnR>
                    <a:lnT w="0" cmpd="sng">
                      <a:noFill/>
                    </a:lnT>
                    <a:lnB w="0" cmpd="sng">
                      <a:noFill/>
                    </a:lnB>
                  </a:tcPr>
                </a:tc>
                <a:tc>
                  <a:txBody>
                    <a:bodyPr wrap="none"/>
                    <a:lstStyle/>
                    <a:p>
                      <a:pPr algn="ctr"/>
                      <a:r>
                        <a:rPr sz="800" b="1">
                          <a:solidFill>
                            <a:srgbClr val="FFFFFF"/>
                          </a:solidFill>
                          <a:latin typeface="Arial"/>
                        </a:rPr>
                        <a:t>$53,800</a:t>
                      </a:r>
                    </a:p>
                  </a:txBody>
                  <a:tcPr>
                    <a:solidFill>
                      <a:srgbClr val="1E4768"/>
                    </a:solidFill>
                    <a:lnL w="0" cmpd="sng">
                      <a:noFill/>
                    </a:lnL>
                    <a:lnR w="0" cmpd="sng">
                      <a:noFill/>
                    </a:lnR>
                    <a:lnT w="0" cmpd="sng">
                      <a:noFill/>
                    </a:lnT>
                    <a:lnB w="0" cmpd="sng">
                      <a:noFill/>
                    </a:lnB>
                  </a:tcPr>
                </a:tc>
                <a:tc>
                  <a:txBody>
                    <a:bodyPr wrap="none"/>
                    <a:lstStyle/>
                    <a:p>
                      <a:pPr algn="ctr"/>
                      <a:r>
                        <a:rPr sz="800" b="1">
                          <a:solidFill>
                            <a:srgbClr val="FFFFFF"/>
                          </a:solidFill>
                          <a:latin typeface="Arial"/>
                        </a:rPr>
                        <a:t>100K</a:t>
                      </a:r>
                    </a:p>
                  </a:txBody>
                  <a:tcPr>
                    <a:solidFill>
                      <a:srgbClr val="1E4768"/>
                    </a:solidFill>
                    <a:lnL w="0" cmpd="sng">
                      <a:noFill/>
                    </a:lnL>
                    <a:lnR w="0" cmpd="sng">
                      <a:noFill/>
                    </a:lnR>
                    <a:lnT w="0" cmpd="sng">
                      <a:noFill/>
                    </a:lnT>
                    <a:lnB w="0" cmpd="sng">
                      <a:noFill/>
                    </a:lnB>
                  </a:tcPr>
                </a:tc>
                <a:tc>
                  <a:txBody>
                    <a:bodyPr wrap="none"/>
                    <a:lstStyle/>
                    <a:p>
                      <a:pPr algn="ctr"/>
                      <a:r>
                        <a:rPr sz="800" b="1">
                          <a:solidFill>
                            <a:srgbClr val="FFFFFF"/>
                          </a:solidFill>
                          <a:latin typeface="Arial"/>
                        </a:rPr>
                        <a:t>High Variance</a:t>
                      </a:r>
                    </a:p>
                  </a:txBody>
                  <a:tcPr>
                    <a:solidFill>
                      <a:srgbClr val="1E4768"/>
                    </a:solidFill>
                    <a:lnL w="0" cmpd="sng">
                      <a:noFill/>
                    </a:lnL>
                    <a:lnR w="0" cmpd="sng">
                      <a:noFill/>
                    </a:lnR>
                    <a:lnT w="0" cmpd="sng">
                      <a:noFill/>
                    </a:lnT>
                    <a:lnB w="0" cmpd="sng">
                      <a:noFill/>
                    </a:lnB>
                  </a:tcPr>
                </a:tc>
                <a:tc>
                  <a:txBody>
                    <a:bodyPr wrap="none"/>
                    <a:lstStyle/>
                    <a:p>
                      <a:pPr algn="ctr"/>
                      <a:r>
                        <a:rPr sz="800" b="1">
                          <a:solidFill>
                            <a:srgbClr val="FFFFFF"/>
                          </a:solidFill>
                          <a:latin typeface="Arial"/>
                        </a:rPr>
                        <a:t>1.95x</a:t>
                      </a:r>
                    </a:p>
                  </a:txBody>
                  <a:tcPr>
                    <a:solidFill>
                      <a:srgbClr val="1E4768"/>
                    </a:solidFill>
                    <a:lnL w="0" cmpd="sng">
                      <a:noFill/>
                    </a:lnL>
                    <a:lnR w="0" cmpd="sng">
                      <a:noFill/>
                    </a:lnR>
                    <a:lnT w="0" cmpd="sng">
                      <a:noFill/>
                    </a:lnT>
                    <a:lnB w="0" cmpd="sng">
                      <a:noFill/>
                    </a:lnB>
                  </a:tcPr>
                </a:tc>
                <a:tc>
                  <a:txBody>
                    <a:bodyPr wrap="none"/>
                    <a:lstStyle/>
                    <a:p>
                      <a:pPr algn="ctr"/>
                      <a:r>
                        <a:rPr sz="800" b="1">
                          <a:solidFill>
                            <a:srgbClr val="FFFFFF"/>
                          </a:solidFill>
                          <a:latin typeface="Arial"/>
                        </a:rPr>
                        <a:t>$105K</a:t>
                      </a:r>
                    </a:p>
                  </a:txBody>
                  <a:tcPr>
                    <a:solidFill>
                      <a:srgbClr val="1E4768"/>
                    </a:solidFill>
                    <a:lnL w="0" cmpd="sng">
                      <a:noFill/>
                    </a:lnL>
                    <a:lnR w="0" cmpd="sng">
                      <a:noFill/>
                    </a:lnR>
                    <a:lnT w="0" cmpd="sng">
                      <a:noFill/>
                    </a:lnT>
                    <a:lnB w="0" cmpd="sng">
                      <a:noFill/>
                    </a:lnB>
                  </a:tcPr>
                </a:tc>
              </a:tr>
            </a:tbl>
          </a:graphicData>
        </a:graphic>
      </p:graphicFrame>
      <p:sp>
        <p:nvSpPr>
          <p:cNvPr id="30" name="TextBox 29"/>
          <p:cNvSpPr txBox="1"/>
          <p:nvPr/>
        </p:nvSpPr>
        <p:spPr>
          <a:xfrm>
            <a:off x="5029200" y="6492240"/>
            <a:ext cx="7086600" cy="320040"/>
          </a:xfrm>
          <a:prstGeom prst="rect">
            <a:avLst/>
          </a:prstGeom>
          <a:noFill/>
        </p:spPr>
        <p:txBody>
          <a:bodyPr wrap="square">
            <a:spAutoFit/>
          </a:bodyPr>
          <a:lstStyle/>
          <a:p>
            <a:pPr algn="l"/>
            <a:r>
              <a:rPr sz="650" b="0" i="1">
                <a:solidFill>
                  <a:srgbClr val="5A7A8A"/>
                </a:solidFill>
                <a:latin typeface="Arial"/>
              </a:rPr>
              <a:t>Volume-weighted metrics. iROAS = Incremental Revenue / Spend. 29-day attribution window.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A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58368"/>
          </a:xfrm>
          <a:prstGeom prst="rect">
            <a:avLst/>
          </a:prstGeom>
          <a:solidFill>
            <a:srgbClr val="163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566928"/>
          </a:xfrm>
          <a:prstGeom prst="rect">
            <a:avLst/>
          </a:prstGeom>
          <a:noFill/>
        </p:spPr>
        <p:txBody>
          <a:bodyPr wrap="square">
            <a:spAutoFit/>
          </a:bodyPr>
          <a:lstStyle/>
          <a:p>
            <a:pPr algn="ctr"/>
            <a:r>
              <a:rPr sz="1300" b="1" i="0">
                <a:solidFill>
                  <a:srgbClr val="00C5C1"/>
                </a:solidFill>
                <a:latin typeface="Arial"/>
              </a:rPr>
              <a:t>iROAS is driven by BOTH CVR Lift AND AOV advantage — not just conversion rate alone.</a:t>
            </a:r>
          </a:p>
        </p:txBody>
      </p:sp>
      <p:sp>
        <p:nvSpPr>
          <p:cNvPr id="5" name="Rectangle 4"/>
          <p:cNvSpPr/>
          <p:nvPr/>
        </p:nvSpPr>
        <p:spPr>
          <a:xfrm>
            <a:off x="0" y="6565392"/>
            <a:ext cx="12188952" cy="29260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6601968"/>
            <a:ext cx="11823192" cy="219456"/>
          </a:xfrm>
          <a:prstGeom prst="rect">
            <a:avLst/>
          </a:prstGeom>
          <a:noFill/>
        </p:spPr>
        <p:txBody>
          <a:bodyPr wrap="square">
            <a:spAutoFit/>
          </a:bodyPr>
          <a:lstStyle/>
          <a:p>
            <a:pPr algn="l"/>
            <a:r>
              <a:rPr sz="700" b="0" i="0">
                <a:solidFill>
                  <a:srgbClr val="163D5D"/>
                </a:solidFill>
                <a:latin typeface="Arial"/>
              </a:rPr>
              <a:t>Campaign: akxzEnAV   |   Data pulled: 2026-10-05</a:t>
            </a:r>
          </a:p>
        </p:txBody>
      </p:sp>
      <p:sp>
        <p:nvSpPr>
          <p:cNvPr id="7" name="Rectangle 6"/>
          <p:cNvSpPr/>
          <p:nvPr/>
        </p:nvSpPr>
        <p:spPr>
          <a:xfrm>
            <a:off x="137160" y="822960"/>
            <a:ext cx="5120640" cy="5678424"/>
          </a:xfrm>
          <a:prstGeom prst="rect">
            <a:avLst/>
          </a:prstGeom>
          <a:solidFill>
            <a:srgbClr val="163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32688"/>
            <a:ext cx="4846320" cy="292608"/>
          </a:xfrm>
          <a:prstGeom prst="rect">
            <a:avLst/>
          </a:prstGeom>
          <a:noFill/>
        </p:spPr>
        <p:txBody>
          <a:bodyPr wrap="square">
            <a:spAutoFit/>
          </a:bodyPr>
          <a:lstStyle/>
          <a:p>
            <a:pPr algn="l"/>
            <a:r>
              <a:rPr sz="1100" b="1" i="0">
                <a:solidFill>
                  <a:srgbClr val="00C5C1"/>
                </a:solidFill>
                <a:latin typeface="Arial"/>
              </a:rPr>
              <a:t>Program Evolution</a:t>
            </a:r>
          </a:p>
        </p:txBody>
      </p:sp>
      <p:sp>
        <p:nvSpPr>
          <p:cNvPr id="9" name="Rectangle 8"/>
          <p:cNvSpPr/>
          <p:nvPr/>
        </p:nvSpPr>
        <p:spPr>
          <a:xfrm>
            <a:off x="301752" y="1325880"/>
            <a:ext cx="109728" cy="10972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 y="1435608"/>
            <a:ext cx="36576" cy="1005840"/>
          </a:xfrm>
          <a:prstGeom prst="rect">
            <a:avLst/>
          </a:prstGeom>
          <a:solidFill>
            <a:srgbClr val="5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1307592"/>
            <a:ext cx="4617720" cy="201168"/>
          </a:xfrm>
          <a:prstGeom prst="rect">
            <a:avLst/>
          </a:prstGeom>
          <a:noFill/>
        </p:spPr>
        <p:txBody>
          <a:bodyPr wrap="square">
            <a:spAutoFit/>
          </a:bodyPr>
          <a:lstStyle/>
          <a:p>
            <a:pPr algn="l"/>
            <a:r>
              <a:rPr sz="900" b="1" i="0">
                <a:solidFill>
                  <a:srgbClr val="00C5C1"/>
                </a:solidFill>
                <a:latin typeface="Arial"/>
              </a:rPr>
              <a:t>TIB May 2026</a:t>
            </a:r>
          </a:p>
        </p:txBody>
      </p:sp>
      <p:sp>
        <p:nvSpPr>
          <p:cNvPr id="12" name="TextBox 11"/>
          <p:cNvSpPr txBox="1"/>
          <p:nvPr/>
        </p:nvSpPr>
        <p:spPr>
          <a:xfrm>
            <a:off x="484632" y="1508760"/>
            <a:ext cx="4617720" cy="182880"/>
          </a:xfrm>
          <a:prstGeom prst="rect">
            <a:avLst/>
          </a:prstGeom>
          <a:noFill/>
        </p:spPr>
        <p:txBody>
          <a:bodyPr wrap="square">
            <a:spAutoFit/>
          </a:bodyPr>
          <a:lstStyle/>
          <a:p>
            <a:pPr algn="l"/>
            <a:r>
              <a:rPr sz="850" b="1" i="0">
                <a:solidFill>
                  <a:srgbClr val="FFFFFF"/>
                </a:solidFill>
                <a:latin typeface="Arial"/>
              </a:rPr>
              <a:t>$105K Incr. Rev  |  1.95x iROAS</a:t>
            </a:r>
          </a:p>
        </p:txBody>
      </p:sp>
      <p:sp>
        <p:nvSpPr>
          <p:cNvPr id="13" name="TextBox 12"/>
          <p:cNvSpPr txBox="1"/>
          <p:nvPr/>
        </p:nvSpPr>
        <p:spPr>
          <a:xfrm>
            <a:off x="484632" y="1691640"/>
            <a:ext cx="4617720" cy="502920"/>
          </a:xfrm>
          <a:prstGeom prst="rect">
            <a:avLst/>
          </a:prstGeom>
          <a:noFill/>
        </p:spPr>
        <p:txBody>
          <a:bodyPr wrap="square">
            <a:spAutoFit/>
          </a:bodyPr>
          <a:lstStyle/>
          <a:p>
            <a:pPr algn="l"/>
            <a:r>
              <a:rPr sz="750" b="0" i="0">
                <a:solidFill>
                  <a:srgbClr val="B0D8D8"/>
                </a:solidFill>
                <a:latin typeface="Arial"/>
              </a:rPr>
              <a:t>First CG campaign. High variance across configs — Model 399 showed 44.8x peak. Clear tuning signal.</a:t>
            </a:r>
          </a:p>
        </p:txBody>
      </p:sp>
      <p:sp>
        <p:nvSpPr>
          <p:cNvPr id="14" name="Rectangle 13"/>
          <p:cNvSpPr/>
          <p:nvPr/>
        </p:nvSpPr>
        <p:spPr>
          <a:xfrm>
            <a:off x="301752" y="2496312"/>
            <a:ext cx="109728" cy="10972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 y="2606040"/>
            <a:ext cx="36576" cy="1005840"/>
          </a:xfrm>
          <a:prstGeom prst="rect">
            <a:avLst/>
          </a:prstGeom>
          <a:solidFill>
            <a:srgbClr val="5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 y="2478024"/>
            <a:ext cx="4617720" cy="201168"/>
          </a:xfrm>
          <a:prstGeom prst="rect">
            <a:avLst/>
          </a:prstGeom>
          <a:noFill/>
        </p:spPr>
        <p:txBody>
          <a:bodyPr wrap="square">
            <a:spAutoFit/>
          </a:bodyPr>
          <a:lstStyle/>
          <a:p>
            <a:pPr algn="l"/>
            <a:r>
              <a:rPr sz="900" b="1" i="0">
                <a:solidFill>
                  <a:srgbClr val="00C5C1"/>
                </a:solidFill>
                <a:latin typeface="Arial"/>
              </a:rPr>
              <a:t>Future Campaign</a:t>
            </a:r>
          </a:p>
        </p:txBody>
      </p:sp>
      <p:sp>
        <p:nvSpPr>
          <p:cNvPr id="17" name="TextBox 16"/>
          <p:cNvSpPr txBox="1"/>
          <p:nvPr/>
        </p:nvSpPr>
        <p:spPr>
          <a:xfrm>
            <a:off x="484632" y="2679192"/>
            <a:ext cx="4617720" cy="182880"/>
          </a:xfrm>
          <a:prstGeom prst="rect">
            <a:avLst/>
          </a:prstGeom>
          <a:noFill/>
        </p:spPr>
        <p:txBody>
          <a:bodyPr wrap="square">
            <a:spAutoFit/>
          </a:bodyPr>
          <a:lstStyle/>
          <a:p>
            <a:pPr algn="l"/>
            <a:r>
              <a:rPr sz="850" b="1" i="0">
                <a:solidFill>
                  <a:srgbClr val="FFFFFF"/>
                </a:solidFill>
                <a:latin typeface="Arial"/>
              </a:rPr>
              <a:t>TBD  |  TBD</a:t>
            </a:r>
          </a:p>
        </p:txBody>
      </p:sp>
      <p:sp>
        <p:nvSpPr>
          <p:cNvPr id="18" name="TextBox 17"/>
          <p:cNvSpPr txBox="1"/>
          <p:nvPr/>
        </p:nvSpPr>
        <p:spPr>
          <a:xfrm>
            <a:off x="484632" y="2862072"/>
            <a:ext cx="4617720" cy="502920"/>
          </a:xfrm>
          <a:prstGeom prst="rect">
            <a:avLst/>
          </a:prstGeom>
          <a:noFill/>
        </p:spPr>
        <p:txBody>
          <a:bodyPr wrap="square">
            <a:spAutoFit/>
          </a:bodyPr>
          <a:lstStyle/>
          <a:p>
            <a:pPr algn="l"/>
            <a:r>
              <a:rPr sz="750" b="0" i="0">
                <a:solidFill>
                  <a:srgbClr val="B0D8D8"/>
                </a:solidFill>
                <a:latin typeface="Arial"/>
              </a:rPr>
              <a:t>Concentrate on Model 399 configuration variants. Suppress negative-lift configs. Expect variance to compress.</a:t>
            </a:r>
          </a:p>
        </p:txBody>
      </p:sp>
      <p:sp>
        <p:nvSpPr>
          <p:cNvPr id="19" name="Rectangle 18"/>
          <p:cNvSpPr/>
          <p:nvPr/>
        </p:nvSpPr>
        <p:spPr>
          <a:xfrm>
            <a:off x="301752" y="3666744"/>
            <a:ext cx="109728" cy="10972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 y="3648456"/>
            <a:ext cx="4617720" cy="201168"/>
          </a:xfrm>
          <a:prstGeom prst="rect">
            <a:avLst/>
          </a:prstGeom>
          <a:noFill/>
        </p:spPr>
        <p:txBody>
          <a:bodyPr wrap="square">
            <a:spAutoFit/>
          </a:bodyPr>
          <a:lstStyle/>
          <a:p>
            <a:pPr algn="l"/>
            <a:r>
              <a:rPr sz="900" b="1" i="0">
                <a:solidFill>
                  <a:srgbClr val="00C5C1"/>
                </a:solidFill>
                <a:latin typeface="Arial"/>
              </a:rPr>
              <a:t>Program Goal</a:t>
            </a:r>
          </a:p>
        </p:txBody>
      </p:sp>
      <p:sp>
        <p:nvSpPr>
          <p:cNvPr id="21" name="TextBox 20"/>
          <p:cNvSpPr txBox="1"/>
          <p:nvPr/>
        </p:nvSpPr>
        <p:spPr>
          <a:xfrm>
            <a:off x="484632" y="3849624"/>
            <a:ext cx="4617720" cy="182880"/>
          </a:xfrm>
          <a:prstGeom prst="rect">
            <a:avLst/>
          </a:prstGeom>
          <a:noFill/>
        </p:spPr>
        <p:txBody>
          <a:bodyPr wrap="square">
            <a:spAutoFit/>
          </a:bodyPr>
          <a:lstStyle/>
          <a:p>
            <a:pPr algn="l"/>
            <a:r>
              <a:rPr sz="850" b="1" i="0">
                <a:solidFill>
                  <a:srgbClr val="FFFFFF"/>
                </a:solidFill>
                <a:latin typeface="Arial"/>
              </a:rPr>
              <a:t>Scale  |  10x+ iROAS</a:t>
            </a:r>
          </a:p>
        </p:txBody>
      </p:sp>
      <p:sp>
        <p:nvSpPr>
          <p:cNvPr id="22" name="TextBox 21"/>
          <p:cNvSpPr txBox="1"/>
          <p:nvPr/>
        </p:nvSpPr>
        <p:spPr>
          <a:xfrm>
            <a:off x="484632" y="4032504"/>
            <a:ext cx="4617720" cy="502920"/>
          </a:xfrm>
          <a:prstGeom prst="rect">
            <a:avLst/>
          </a:prstGeom>
          <a:noFill/>
        </p:spPr>
        <p:txBody>
          <a:bodyPr wrap="square">
            <a:spAutoFit/>
          </a:bodyPr>
          <a:lstStyle/>
          <a:p>
            <a:pPr algn="l"/>
            <a:r>
              <a:rPr sz="750" b="0" i="0">
                <a:solidFill>
                  <a:srgbClr val="B0D8D8"/>
                </a:solidFill>
                <a:latin typeface="Arial"/>
              </a:rPr>
              <a:t>As the model builds history with this audience, incremental gains compound. The foundation is set.</a:t>
            </a:r>
          </a:p>
        </p:txBody>
      </p:sp>
      <p:sp>
        <p:nvSpPr>
          <p:cNvPr id="23" name="Rectangle 22"/>
          <p:cNvSpPr/>
          <p:nvPr/>
        </p:nvSpPr>
        <p:spPr>
          <a:xfrm>
            <a:off x="274320" y="5952744"/>
            <a:ext cx="4846320" cy="384048"/>
          </a:xfrm>
          <a:prstGeom prst="rect">
            <a:avLst/>
          </a:prstGeom>
          <a:solidFill>
            <a:srgbClr val="1E47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 y="6007608"/>
            <a:ext cx="4709160" cy="292608"/>
          </a:xfrm>
          <a:prstGeom prst="rect">
            <a:avLst/>
          </a:prstGeom>
          <a:noFill/>
        </p:spPr>
        <p:txBody>
          <a:bodyPr wrap="square">
            <a:spAutoFit/>
          </a:bodyPr>
          <a:lstStyle/>
          <a:p>
            <a:pPr algn="l"/>
            <a:r>
              <a:rPr sz="800" b="1" i="0">
                <a:solidFill>
                  <a:srgbClr val="00C5C1"/>
                </a:solidFill>
                <a:latin typeface="Arial"/>
              </a:rPr>
              <a:t>$105K to date — full potential unlocked as model matures across campaigns</a:t>
            </a:r>
          </a:p>
        </p:txBody>
      </p:sp>
      <p:sp>
        <p:nvSpPr>
          <p:cNvPr id="25" name="Rectangle 24"/>
          <p:cNvSpPr/>
          <p:nvPr/>
        </p:nvSpPr>
        <p:spPr>
          <a:xfrm>
            <a:off x="5486400" y="822960"/>
            <a:ext cx="6565392" cy="5678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50992" y="932688"/>
            <a:ext cx="6245352" cy="292608"/>
          </a:xfrm>
          <a:prstGeom prst="rect">
            <a:avLst/>
          </a:prstGeom>
          <a:noFill/>
        </p:spPr>
        <p:txBody>
          <a:bodyPr wrap="square">
            <a:spAutoFit/>
          </a:bodyPr>
          <a:lstStyle/>
          <a:p>
            <a:pPr algn="l"/>
            <a:r>
              <a:rPr sz="1100" b="1" i="0">
                <a:solidFill>
                  <a:srgbClr val="163D5D"/>
                </a:solidFill>
                <a:latin typeface="Arial"/>
              </a:rPr>
              <a:t>Key Program Insight</a:t>
            </a:r>
          </a:p>
        </p:txBody>
      </p:sp>
      <p:sp>
        <p:nvSpPr>
          <p:cNvPr id="27" name="TextBox 26"/>
          <p:cNvSpPr txBox="1"/>
          <p:nvPr/>
        </p:nvSpPr>
        <p:spPr>
          <a:xfrm>
            <a:off x="5650992" y="1298448"/>
            <a:ext cx="6245352" cy="502920"/>
          </a:xfrm>
          <a:prstGeom prst="rect">
            <a:avLst/>
          </a:prstGeom>
          <a:noFill/>
        </p:spPr>
        <p:txBody>
          <a:bodyPr wrap="square">
            <a:spAutoFit/>
          </a:bodyPr>
          <a:lstStyle/>
          <a:p>
            <a:pPr algn="l"/>
            <a:r>
              <a:rPr sz="1000" b="1" i="1">
                <a:solidFill>
                  <a:srgbClr val="00C5C1"/>
                </a:solidFill>
                <a:latin typeface="Arial"/>
              </a:rPr>
              <a:t>High variance in a first run is signal, not noise. It tells us exactly where to focus next.</a:t>
            </a:r>
          </a:p>
        </p:txBody>
      </p:sp>
      <p:sp>
        <p:nvSpPr>
          <p:cNvPr id="28" name="TextBox 27"/>
          <p:cNvSpPr txBox="1"/>
          <p:nvPr/>
        </p:nvSpPr>
        <p:spPr>
          <a:xfrm>
            <a:off x="5650992" y="1874520"/>
            <a:ext cx="6245352" cy="4206240"/>
          </a:xfrm>
          <a:prstGeom prst="rect">
            <a:avLst/>
          </a:prstGeom>
          <a:noFill/>
        </p:spPr>
        <p:txBody>
          <a:bodyPr wrap="square">
            <a:spAutoFit/>
          </a:bodyPr>
          <a:lstStyle/>
          <a:p>
            <a:pPr algn="l"/>
            <a:r>
              <a:rPr sz="819" b="0" i="0">
                <a:solidFill>
                  <a:srgbClr val="1E4768"/>
                </a:solidFill>
                <a:latin typeface="Arial"/>
              </a:rPr>
              <a:t>The CG program is at the beginning of its learning curve — and the first campaign already contains the signal needed to accelerate.
Model 399 (2 Epochs, 10K Iterations, 10 Steps) stands out with 44.8x iROAS and a $29 AOV premium over the holdout group. This combination — moderate lift with meaningfully higher order value — is the exact pattern that drives outsized incremental revenue.
The other configurations show near-zero or negative iROAS, which is not a failure — it is a data point. Each negative result tells us which model parameters do not match this audience and offer, narrowing the search space for future campaigns.
With two or three more campaigns concentrating on Model 399 variants and suppressing the underperformers, variance should compress sharply as the model builds a clearer behavioral picture of the CG audience.
The CG program has strong foundations. The next step is concentration.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