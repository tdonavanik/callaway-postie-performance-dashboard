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5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49226-F99B-6541-89A9-D320785531E8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5CBE5-A211-F043-AAC4-4ECF9C408F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95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5CBE5-A211-F043-AAC4-4ECF9C408F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532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" y="0"/>
            <a:ext cx="4873752" cy="6858000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182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CG Trade-In Bonus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132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5C1"/>
                </a:solidFill>
                <a:latin typeface="Arial"/>
              </a:rPr>
              <a:t>Callaway Golf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969264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D8D8"/>
                </a:solidFill>
                <a:latin typeface="Arial"/>
              </a:rPr>
              <a:t>Postie CRM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61872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Portfolio iROAS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1.95x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Total Incr. Rev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1368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$105K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37160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0D8D8"/>
                </a:solidFill>
                <a:latin typeface="Arial"/>
              </a:rPr>
              <a:t>CVR 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554480"/>
            <a:ext cx="1508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5C1"/>
                </a:solidFill>
                <a:latin typeface="Arial"/>
              </a:rPr>
              <a:t>High Var.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121408"/>
            <a:ext cx="4663440" cy="1905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2212848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2880" y="2212848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2304288"/>
            <a:ext cx="44348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i="0" dirty="0">
                <a:solidFill>
                  <a:srgbClr val="FFFFFF"/>
                </a:solidFill>
                <a:latin typeface="Arial"/>
              </a:rPr>
              <a:t>CRM 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M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o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b="1" i="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1" i="0" dirty="0">
                <a:solidFill>
                  <a:srgbClr val="FFFFFF"/>
                </a:solidFill>
                <a:latin typeface="Arial"/>
              </a:rPr>
              <a:t>l 399 — Clear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560320"/>
            <a:ext cx="443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+94.9% CVR lift with $29 AOV premium → 44.8x </a:t>
            </a:r>
            <a:r>
              <a:rPr sz="1000" b="0" i="0" dirty="0" err="1">
                <a:solidFill>
                  <a:srgbClr val="FFFFFF"/>
                </a:solidFill>
                <a:latin typeface="Arial"/>
              </a:rPr>
              <a:t>iROAS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, $267K. That’s 254% of total campaign revenue from one audience.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438144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" y="3438144"/>
            <a:ext cx="64008" cy="113385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3529584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High Variance = Tuning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785616"/>
            <a:ext cx="44348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Range from 44.8x to -14.6x shows model still exploring config</a:t>
            </a:r>
            <a:r>
              <a:rPr lang="en-US" sz="1000" b="0" i="0" dirty="0">
                <a:solidFill>
                  <a:srgbClr val="FFFFFF"/>
                </a:solidFill>
                <a:latin typeface="Arial"/>
              </a:rPr>
              <a:t>urations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. </a:t>
            </a:r>
            <a:endParaRPr lang="en-US" sz="10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Each negative result narrows the search for next campaign.</a:t>
            </a:r>
            <a:r>
              <a:rPr lang="en-US" sz="1000" b="0" i="0" dirty="0">
                <a:solidFill>
                  <a:srgbClr val="FFFFFF"/>
                </a:solidFill>
                <a:latin typeface="Arial"/>
              </a:rPr>
              <a:t>  Each win rewards th</a:t>
            </a:r>
            <a:r>
              <a:rPr lang="en-US" sz="1000" dirty="0">
                <a:solidFill>
                  <a:srgbClr val="FFFFFF"/>
                </a:solidFill>
                <a:latin typeface="Arial"/>
              </a:rPr>
              <a:t>e deep reinforcement learning model to optimize towards.</a:t>
            </a:r>
            <a:endParaRPr sz="10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82880" y="4663440"/>
            <a:ext cx="4663440" cy="1133856"/>
          </a:xfrm>
          <a:prstGeom prst="rect">
            <a:avLst/>
          </a:prstGeom>
          <a:solidFill>
            <a:srgbClr val="1C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" y="4663440"/>
            <a:ext cx="64008" cy="1133856"/>
          </a:xfrm>
          <a:prstGeom prst="rect">
            <a:avLst/>
          </a:prstGeom>
          <a:solidFill>
            <a:srgbClr val="F0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4754880"/>
            <a:ext cx="4434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Mdl 72, 394 &amp; 276 — Zero CVR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5010912"/>
            <a:ext cx="4434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  <a:latin typeface="Arial"/>
              </a:rPr>
              <a:t>0% CVR lift means no incremental conversions. High AOV advantage cannot compensate. Suppress these config</a:t>
            </a:r>
            <a:r>
              <a:rPr lang="en-US" sz="1000" b="0" i="0" dirty="0">
                <a:solidFill>
                  <a:srgbClr val="FFFFFF"/>
                </a:solidFill>
                <a:latin typeface="Arial"/>
              </a:rPr>
              <a:t>uration</a:t>
            </a:r>
            <a:r>
              <a:rPr sz="1000" b="0" i="0" dirty="0">
                <a:solidFill>
                  <a:srgbClr val="FFFFFF"/>
                </a:solidFill>
                <a:latin typeface="Arial"/>
              </a:rPr>
              <a:t>s next run.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446520"/>
            <a:ext cx="4663440" cy="19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 dirty="0">
                <a:solidFill>
                  <a:srgbClr val="5A7A8A"/>
                </a:solidFill>
                <a:latin typeface="Arial"/>
              </a:rPr>
              <a:t>Spend: $53,800   |   Reach: 100K   |   </a:t>
            </a:r>
            <a:r>
              <a:rPr lang="en-US" sz="650" dirty="0">
                <a:solidFill>
                  <a:srgbClr val="5A7A8A"/>
                </a:solidFill>
                <a:latin typeface="Arial"/>
              </a:rPr>
              <a:t>45</a:t>
            </a:r>
            <a:r>
              <a:rPr sz="650" b="0" i="0" dirty="0">
                <a:solidFill>
                  <a:srgbClr val="5A7A8A"/>
                </a:solidFill>
                <a:latin typeface="Arial"/>
              </a:rPr>
              <a:t>-day attribution  |  Campaign: </a:t>
            </a:r>
            <a:r>
              <a:rPr sz="650" b="0" i="0" dirty="0" err="1">
                <a:solidFill>
                  <a:srgbClr val="5A7A8A"/>
                </a:solidFill>
                <a:latin typeface="Arial"/>
              </a:rPr>
              <a:t>akxzEnAV</a:t>
            </a:r>
            <a:endParaRPr sz="650" b="0" i="0" dirty="0">
              <a:solidFill>
                <a:srgbClr val="5A7A8A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892040" y="0"/>
            <a:ext cx="729691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64592"/>
            <a:ext cx="7086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D5D"/>
                </a:solidFill>
                <a:latin typeface="Arial"/>
              </a:rPr>
              <a:t>Audience Performance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625903"/>
              </p:ext>
            </p:extLst>
          </p:nvPr>
        </p:nvGraphicFramePr>
        <p:xfrm>
          <a:off x="5029200" y="594360"/>
          <a:ext cx="6976868" cy="59893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02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2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/>
                        </a:rPr>
                        <a:t>General 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Config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CVR Lift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Test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Ctrl AOV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AOV Δ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iROAS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Incr. Rev</a:t>
                      </a:r>
                    </a:p>
                  </a:txBody>
                  <a:tcPr>
                    <a:solidFill>
                      <a:srgbClr val="163D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FFFFFF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FFFFFF"/>
                          </a:solidFill>
                          <a:latin typeface="Arial"/>
                        </a:rPr>
                        <a:t>l 399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2E·10K·10S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+94.9%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$442.27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$412.50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+7.2%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44.8x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Arial"/>
                        </a:rPr>
                        <a:t>$267K</a:t>
                      </a:r>
                    </a:p>
                  </a:txBody>
                  <a:tcPr>
                    <a:solidFill>
                      <a:srgbClr val="00C5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392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4E·10K·5S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+5.3%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$370.58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$340.22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+8.9%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4.6x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$26K</a:t>
                      </a:r>
                    </a:p>
                  </a:txBody>
                  <a:tcPr>
                    <a:solidFill>
                      <a:srgbClr val="EA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Active 12mo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 (benchmark)</a:t>
                      </a:r>
                      <a:endParaRPr sz="1000" b="0" dirty="0">
                        <a:solidFill>
                          <a:srgbClr val="163D5D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+0.8%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$414.18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$409.70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+1.1%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$10K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Lapsed 1yr+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 (benchmark)</a:t>
                      </a:r>
                      <a:endParaRPr sz="1000" b="0" dirty="0">
                        <a:solidFill>
                          <a:srgbClr val="163D5D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+1.8%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$455.28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$440.61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+3.3%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0.5x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$5K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182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4E·20K·5S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+18.8%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$341.75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$403.26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-15.3%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0.2x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$1K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72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4E·20K·2S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$564.44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$439.58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+28.4%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-7.4x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-$50K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394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4E·10K·2S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$444.58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$340.12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+30.7%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-8.5x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-$57K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CRM 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M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o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d</a:t>
                      </a:r>
                      <a:r>
                        <a:rPr lang="en-US" sz="1000" b="0" dirty="0">
                          <a:solidFill>
                            <a:srgbClr val="163D5D"/>
                          </a:solidFill>
                          <a:latin typeface="Arial"/>
                        </a:rPr>
                        <a:t>e</a:t>
                      </a:r>
                      <a:r>
                        <a:rPr sz="1000" b="0" dirty="0">
                          <a:solidFill>
                            <a:srgbClr val="163D5D"/>
                          </a:solidFill>
                          <a:latin typeface="Arial"/>
                        </a:rPr>
                        <a:t>l 276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2E·20K·10S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$268.96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$365.09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-26.3%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-14.6x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63D5D"/>
                          </a:solidFill>
                          <a:latin typeface="Arial"/>
                        </a:rPr>
                        <a:t>-$98K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879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00"/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$404.96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$391.01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+3.6%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1.95x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rial"/>
                        </a:rPr>
                        <a:t>$105K</a:t>
                      </a:r>
                    </a:p>
                  </a:txBody>
                  <a:tcPr>
                    <a:solidFill>
                      <a:srgbClr val="1E47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A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175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5C1"/>
                </a:solidFill>
                <a:latin typeface="Arial"/>
              </a:rPr>
              <a:t>iROAS is driven by BOTH CVR Lift AND AOV advantage — not just conversion rate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6601968"/>
            <a:ext cx="118231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63D5D"/>
                </a:solidFill>
                <a:latin typeface="Arial"/>
              </a:rPr>
              <a:t>Campaign: akxzEnAV   |   Data pulled: 2026-07-07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822960"/>
            <a:ext cx="5820156" cy="5678424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932688"/>
            <a:ext cx="55458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5C1"/>
                </a:solidFill>
                <a:latin typeface="Arial"/>
              </a:rPr>
              <a:t>What the Model Configurations Mean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1335024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298448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Epochs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499616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much the model relies on proven strategies vs. exploring new 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691640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Higher epochs: leans on what’s worked. Safer, more predictable.
Lower epochs: more room to explore. Higher risk, higher reward.
Think of it like a restaurant menu: serve your bestsellers, or reserve space for new dishes.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" y="2505456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2468880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Step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670048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finely the model slices time when linking mail to results.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862072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Smaller step: larger time windows (e.g., weeks). Easier to connect mail to response.
Larger step: shorter windows (days). More granular, but harder to see the full picture.
Think of it like zooming a camera: zoomed out shows the big picture; zoomed in shows detail but loses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" y="3675888"/>
            <a:ext cx="54864" cy="128016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" y="3639312"/>
            <a:ext cx="55001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5C1"/>
                </a:solidFill>
                <a:latin typeface="Arial"/>
              </a:rPr>
              <a:t>▸ 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840480"/>
            <a:ext cx="55001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0D8D8"/>
                </a:solidFill>
                <a:latin typeface="Arial"/>
              </a:rPr>
              <a:t>How many practice rounds the model runs through your mailing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4032504"/>
            <a:ext cx="55001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More iterations = more chances to find meaningful patterns. Too many = over-tuned to past results.
Epochs control what the model focuses on; iterations control how much it practices.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1636" y="822960"/>
            <a:ext cx="5820156" cy="56784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6228" y="932688"/>
            <a:ext cx="55001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3D5D"/>
                </a:solidFill>
                <a:latin typeface="Arial"/>
              </a:rPr>
              <a:t>High Variance = Tuning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1298448"/>
            <a:ext cx="5500116" cy="1731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 dirty="0">
                <a:solidFill>
                  <a:srgbClr val="1E4768"/>
                </a:solidFill>
                <a:latin typeface="Arial"/>
              </a:rPr>
              <a:t>The CG Trade-In Bonus campaign shows wide performance variance across model configurations — from negative </a:t>
            </a:r>
            <a:r>
              <a:rPr sz="819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to one configuration achieving 44.8x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 </a:t>
            </a:r>
            <a:r>
              <a:rPr lang="en-US" sz="819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.
This is meaningful signal, not noise. High variance in a first-run campaign indicates the model is still exploring configuration space. Some audiences responded powerfully; others show holdout CVR slightly exceeding </a:t>
            </a:r>
            <a:r>
              <a:rPr lang="en-US" sz="819" b="0" i="0" dirty="0">
                <a:solidFill>
                  <a:srgbClr val="1E4768"/>
                </a:solidFill>
                <a:latin typeface="Arial"/>
              </a:rPr>
              <a:t>mailed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CVR, which tells us certain configurations were not well-matched to this </a:t>
            </a:r>
            <a:r>
              <a:rPr lang="en-US" sz="819" dirty="0">
                <a:solidFill>
                  <a:srgbClr val="1E4768"/>
                </a:solidFill>
                <a:latin typeface="Arial"/>
              </a:rPr>
              <a:t>timeframe.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
The best-performing configuration (Model 399, 2E·10K·10S) achieved 44.8x </a:t>
            </a:r>
            <a:r>
              <a:rPr sz="819" b="0" i="0" dirty="0" err="1">
                <a:solidFill>
                  <a:srgbClr val="1E4768"/>
                </a:solidFill>
                <a:latin typeface="Arial"/>
              </a:rPr>
              <a:t>iROAS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 with a meaningful AOV premium (+$29 vs. holdout). This shows what is possible as the model matures.
</a:t>
            </a:r>
            <a:r>
              <a:rPr sz="819" b="1" i="0" dirty="0">
                <a:solidFill>
                  <a:srgbClr val="1E4768"/>
                </a:solidFill>
                <a:latin typeface="Arial"/>
              </a:rPr>
              <a:t>Next steps: </a:t>
            </a:r>
            <a:r>
              <a:rPr lang="en-US" sz="819" dirty="0">
                <a:solidFill>
                  <a:srgbClr val="1E4768"/>
                </a:solidFill>
                <a:latin typeface="Arial"/>
              </a:rPr>
              <a:t>optimize 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on the Model 399 configuration and its close variants. Suppress the configurations showing negative incremental lift. With two to three more campaigns, variance should compress as the model builds a clearer picture of which customers respond </a:t>
            </a:r>
            <a:r>
              <a:rPr lang="en-US" sz="819" dirty="0">
                <a:solidFill>
                  <a:srgbClr val="1E4768"/>
                </a:solidFill>
                <a:latin typeface="Arial"/>
              </a:rPr>
              <a:t>to direct mail at </a:t>
            </a:r>
            <a:r>
              <a:rPr lang="en-US" sz="819" dirty="0" err="1">
                <a:solidFill>
                  <a:srgbClr val="1E4768"/>
                </a:solidFill>
                <a:latin typeface="Arial"/>
              </a:rPr>
              <a:t>specifc</a:t>
            </a:r>
            <a:r>
              <a:rPr lang="en-US" sz="819" dirty="0">
                <a:solidFill>
                  <a:srgbClr val="1E4768"/>
                </a:solidFill>
                <a:latin typeface="Arial"/>
              </a:rPr>
              <a:t> times throughout the year</a:t>
            </a:r>
            <a:r>
              <a:rPr sz="819" b="0" i="0" dirty="0">
                <a:solidFill>
                  <a:srgbClr val="1E4768"/>
                </a:solidFill>
                <a:latin typeface="Arial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6228" y="4041648"/>
            <a:ext cx="5500116" cy="256032"/>
          </a:xfrm>
          <a:prstGeom prst="rect">
            <a:avLst/>
          </a:prstGeom>
          <a:solidFill>
            <a:srgbClr val="16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32804" y="4078224"/>
            <a:ext cx="54269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rial"/>
              </a:rPr>
              <a:t>Campaign Examples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96228" y="4297680"/>
            <a:ext cx="5500116" cy="274320"/>
          </a:xfrm>
          <a:prstGeom prst="rect">
            <a:avLst/>
          </a:prstGeom>
          <a:solidFill>
            <a:srgbClr val="00C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32804" y="4315968"/>
            <a:ext cx="54269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Best:  Mdl 399 (2E·10K·10S) — +94.9% CVR lift, +7.2% AOV advantage → 44.8x iROAS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96228" y="4572000"/>
            <a:ext cx="5500116" cy="29260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2804" y="4590288"/>
            <a:ext cx="54269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1E4768"/>
                </a:solidFill>
                <a:latin typeface="Arial"/>
              </a:rPr>
              <a:t>Cautionary:  </a:t>
            </a:r>
            <a:r>
              <a:rPr sz="750" b="0" i="0" dirty="0" err="1">
                <a:solidFill>
                  <a:srgbClr val="1E4768"/>
                </a:solidFill>
                <a:latin typeface="Arial"/>
              </a:rPr>
              <a:t>Mdl</a:t>
            </a:r>
            <a:r>
              <a:rPr sz="750" b="0" i="0" dirty="0">
                <a:solidFill>
                  <a:srgbClr val="1E4768"/>
                </a:solidFill>
                <a:latin typeface="Arial"/>
              </a:rPr>
              <a:t> 276 (2E·20K·10S) — </a:t>
            </a:r>
            <a:r>
              <a:rPr lang="en-US" sz="750" dirty="0">
                <a:solidFill>
                  <a:srgbClr val="1E4768"/>
                </a:solidFill>
                <a:latin typeface="Arial"/>
              </a:rPr>
              <a:t>zero</a:t>
            </a:r>
            <a:r>
              <a:rPr sz="750" b="0" i="0" dirty="0">
                <a:solidFill>
                  <a:srgbClr val="1E4768"/>
                </a:solidFill>
                <a:latin typeface="Arial"/>
              </a:rPr>
              <a:t> CVR lift, -26.3% AOV vs. holdout → -14.6x </a:t>
            </a:r>
            <a:r>
              <a:rPr sz="750" b="0" i="0" dirty="0" err="1">
                <a:solidFill>
                  <a:srgbClr val="1E4768"/>
                </a:solidFill>
                <a:latin typeface="Arial"/>
              </a:rPr>
              <a:t>iROAS</a:t>
            </a:r>
            <a:endParaRPr sz="750" b="0" i="0" dirty="0">
              <a:solidFill>
                <a:srgbClr val="1E4768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817</Words>
  <Application>Microsoft Macintosh PowerPoint</Application>
  <PresentationFormat>Custom</PresentationFormat>
  <Paragraphs>115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 Donavanik</cp:lastModifiedBy>
  <cp:revision>5</cp:revision>
  <dcterms:created xsi:type="dcterms:W3CDTF">2013-01-27T09:14:16Z</dcterms:created>
  <dcterms:modified xsi:type="dcterms:W3CDTF">2026-10-07T22:43:59Z</dcterms:modified>
  <cp:category/>
</cp:coreProperties>
</file>