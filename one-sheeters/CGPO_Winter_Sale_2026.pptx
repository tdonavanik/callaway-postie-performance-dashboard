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>
        <p:scale>
          <a:sx n="120" d="100"/>
          <a:sy n="120" d="100"/>
        </p:scale>
        <p:origin x="1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CGPO Winter Sale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7132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5C1"/>
                </a:solidFill>
                <a:latin typeface="Arial"/>
              </a:rPr>
              <a:t>Callaway Golf Pre-Owned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96926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D8D8"/>
                </a:solidFill>
                <a:latin typeface="Arial"/>
              </a:rPr>
              <a:t>Postie CRM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61872"/>
            <a:ext cx="4663440" cy="1905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Portfolio iROAS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15.4x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Total Incr. Rev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$817K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Wtd. CVR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+70.2%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121408"/>
            <a:ext cx="4663440" cy="1905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2212848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2880" y="2212848"/>
            <a:ext cx="64008" cy="113385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2304288"/>
            <a:ext cx="4434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FFFFF"/>
                </a:solidFill>
                <a:latin typeface="Arial"/>
              </a:rPr>
              <a:t>Gen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eral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CRM 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Models Sweep — 3 for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560320"/>
            <a:ext cx="4434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FFFFFF"/>
                </a:solidFill>
                <a:latin typeface="Arial"/>
              </a:rPr>
              <a:t>All 3 Gen</a:t>
            </a:r>
            <a:r>
              <a:rPr lang="en-US" sz="800" dirty="0">
                <a:solidFill>
                  <a:srgbClr val="FFFFFF"/>
                </a:solidFill>
                <a:latin typeface="Arial"/>
              </a:rPr>
              <a:t>eral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Arial"/>
              </a:rPr>
              <a:t>m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odels beat both Client models. Gen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eral Model 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182 alone generated $359K at 27.0x — highest single-audience result in program history.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  General models allow for more data (</a:t>
            </a:r>
            <a:r>
              <a:rPr lang="en-US" sz="800" dirty="0">
                <a:solidFill>
                  <a:srgbClr val="FFFFFF"/>
                </a:solidFill>
                <a:latin typeface="Arial"/>
              </a:rPr>
              <a:t>generalized </a:t>
            </a:r>
            <a:r>
              <a:rPr lang="en-US" sz="800" dirty="0" err="1">
                <a:solidFill>
                  <a:srgbClr val="FFFFFF"/>
                </a:solidFill>
                <a:latin typeface="Arial"/>
              </a:rPr>
              <a:t>Postie</a:t>
            </a:r>
            <a:r>
              <a:rPr lang="en-US" sz="800" dirty="0">
                <a:solidFill>
                  <a:srgbClr val="FFFFFF"/>
                </a:solidFill>
                <a:latin typeface="Arial"/>
              </a:rPr>
              <a:t> data across all </a:t>
            </a:r>
            <a:r>
              <a:rPr lang="en-US" sz="800" dirty="0" err="1">
                <a:solidFill>
                  <a:srgbClr val="FFFFFF"/>
                </a:solidFill>
                <a:latin typeface="Arial"/>
              </a:rPr>
              <a:t>Postie</a:t>
            </a:r>
            <a:r>
              <a:rPr lang="en-US" sz="800" dirty="0">
                <a:solidFill>
                  <a:srgbClr val="FFFFFF"/>
                </a:solidFill>
                <a:latin typeface="Arial"/>
              </a:rPr>
              <a:t> historical CRM campaigns) 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to inform configuration and audience selection.</a:t>
            </a:r>
            <a:endParaRPr sz="8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2880" y="3438144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" y="3438144"/>
            <a:ext cx="64008" cy="113385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" y="352958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CVR Lift + AOV 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785616"/>
            <a:ext cx="4434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FFFFFF"/>
                </a:solidFill>
                <a:latin typeface="Arial"/>
              </a:rPr>
              <a:t>Gen models achieved both higher CVR lift AND AOV advantage simultaneously. The combination drove outsized 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overall 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revenue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 AND incremental revenue.</a:t>
            </a:r>
            <a:endParaRPr sz="8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82880" y="4663440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2880" y="4663440"/>
            <a:ext cx="64008" cy="1133856"/>
          </a:xfrm>
          <a:prstGeom prst="rect">
            <a:avLst/>
          </a:prstGeom>
          <a:solidFill>
            <a:srgbClr val="F0B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" y="475488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Client Models Anchored to Past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5010912"/>
            <a:ext cx="4434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FFFFFF"/>
                </a:solidFill>
                <a:latin typeface="Arial"/>
              </a:rPr>
              <a:t>Despite +9–31% AOV advantage, Client models delivered near-zero or negative </a:t>
            </a:r>
            <a:r>
              <a:rPr sz="800" b="0" i="0" dirty="0" err="1">
                <a:solidFill>
                  <a:srgbClr val="FFFFFF"/>
                </a:solidFill>
                <a:latin typeface="Arial"/>
              </a:rPr>
              <a:t>iROAS</a:t>
            </a:r>
            <a:r>
              <a:rPr sz="800" b="0" i="0" dirty="0">
                <a:solidFill>
                  <a:srgbClr val="FFFFFF"/>
                </a:solidFill>
                <a:latin typeface="Arial"/>
              </a:rPr>
              <a:t>. Training on conservative send history limits exploration</a:t>
            </a:r>
            <a:r>
              <a:rPr lang="en-US" sz="800" b="0" i="0" dirty="0">
                <a:solidFill>
                  <a:srgbClr val="FFFFFF"/>
                </a:solidFill>
                <a:latin typeface="Arial"/>
              </a:rPr>
              <a:t> (CGPO specific data across CGPO CRM Campaigns only).</a:t>
            </a:r>
            <a:endParaRPr sz="8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2880" y="6446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A7A8A"/>
                </a:solidFill>
                <a:latin typeface="Arial"/>
              </a:rPr>
              <a:t>Spend: $53,143   |   Reach: 98K   |   45-day attribution  |  Campaign: qVAQYvDV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0"/>
            <a:ext cx="72969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164592"/>
            <a:ext cx="7086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D5D"/>
                </a:solidFill>
                <a:latin typeface="Arial"/>
              </a:rPr>
              <a:t>Audience Performance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33278"/>
              </p:ext>
            </p:extLst>
          </p:nvPr>
        </p:nvGraphicFramePr>
        <p:xfrm>
          <a:off x="5029200" y="594360"/>
          <a:ext cx="6976868" cy="5989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0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2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Config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CVR Lift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Test AOV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Ctrl AOV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AOV Δ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iROAS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Incr. Rev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186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Gen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eral CRM Model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 182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4E·20K·5S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+105.5%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$252.42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$221.36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+14.0%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27.0x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$359K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186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Gen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eral CRM Model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 276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2E·20K·10S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+88.1%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$238.69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$231.96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+2.9%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16.1x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$256K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3186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Gen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eral CRM Model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 72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4E·20K·2S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+74.6%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$243.54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$239.12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+1.8%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15.1x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$200K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186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Client 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Model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4E·20K·5S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+23.1%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$262.54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$240.34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+9.2%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0.7x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$4K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3186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Client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 CRM Model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 329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2E·20K·10S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-35.8%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$262.63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$201.04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+30.6%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-0.4x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-$2K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318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/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+70.2%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$245.51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$229.29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+7.1%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15.4x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$817K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1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00C5C1"/>
                </a:solidFill>
                <a:latin typeface="Arial"/>
              </a:rPr>
              <a:t>iROAS</a:t>
            </a:r>
            <a:r>
              <a:rPr sz="1300" b="1" i="0" dirty="0">
                <a:solidFill>
                  <a:srgbClr val="00C5C1"/>
                </a:solidFill>
                <a:latin typeface="Arial"/>
              </a:rPr>
              <a:t> is driven by BOTH CVR Lift AND AOV advantage — not just conversion rate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63D5D"/>
                </a:solidFill>
                <a:latin typeface="Arial"/>
              </a:rPr>
              <a:t>Campaign: qVAQYvDV   |   Data pulled: 2026-10-05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822960"/>
            <a:ext cx="5820156" cy="5678424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932688"/>
            <a:ext cx="55458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C1"/>
                </a:solidFill>
                <a:latin typeface="Arial"/>
              </a:rPr>
              <a:t>What the Model Configurations Mean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" y="1335024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298448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Epochs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499616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much the model relies on proven strategies vs. exploring new 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691640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Higher epochs: leans on what’s worked. Safer, more predictable.
Lower epochs: more room to explore. Higher risk, higher reward.
Think of it like a restaurant menu: serve your bestsellers, or reserve space for new dishes.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" y="2505456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" y="2468880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Step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670048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finely the model slices time when linking mail to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862072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Smaller step: larger time windows (e.g., weeks). Easier to connect mail to response.
Larger step: shorter windows (days). More granular, but harder to see the full picture.
Think of it like zooming a camera: zoomed out shows the big picture; zoomed in shows detail but loses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3675888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3639312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Iterations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840480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many practice rounds the model runs through your mailing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4032504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More iterations = more chances to find meaningful patterns. Too many = over-tuned to past results.
Epochs control what the model focuses on; iterations control how much it practices.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822960"/>
            <a:ext cx="5820156" cy="5678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6228" y="932688"/>
            <a:ext cx="55001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63D5D"/>
                </a:solidFill>
                <a:latin typeface="Arial"/>
              </a:rPr>
              <a:t>Gen</a:t>
            </a:r>
            <a:r>
              <a:rPr lang="en-US" sz="1100" b="1" i="0" dirty="0">
                <a:solidFill>
                  <a:srgbClr val="163D5D"/>
                </a:solidFill>
                <a:latin typeface="Arial"/>
              </a:rPr>
              <a:t>eral CRM</a:t>
            </a:r>
            <a:r>
              <a:rPr sz="1100" b="1" i="0" dirty="0">
                <a:solidFill>
                  <a:srgbClr val="163D5D"/>
                </a:solidFill>
                <a:latin typeface="Arial"/>
              </a:rPr>
              <a:t> Models vs. Client</a:t>
            </a:r>
            <a:r>
              <a:rPr lang="en-US" sz="1100" b="1" i="0" dirty="0">
                <a:solidFill>
                  <a:srgbClr val="163D5D"/>
                </a:solidFill>
                <a:latin typeface="Arial"/>
              </a:rPr>
              <a:t> CRM</a:t>
            </a:r>
            <a:r>
              <a:rPr sz="1100" b="1" i="0" dirty="0">
                <a:solidFill>
                  <a:srgbClr val="163D5D"/>
                </a:solidFill>
                <a:latin typeface="Arial"/>
              </a:rPr>
              <a:t>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1298448"/>
            <a:ext cx="5500116" cy="198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 dirty="0">
                <a:solidFill>
                  <a:srgbClr val="1E4768"/>
                </a:solidFill>
                <a:latin typeface="Arial"/>
              </a:rPr>
              <a:t>This campaign tested two distinct model types side by side — and the results tell a clear story.
Genera</a:t>
            </a:r>
            <a:r>
              <a:rPr lang="en-US" sz="819" b="0" i="0" dirty="0">
                <a:solidFill>
                  <a:srgbClr val="1E4768"/>
                </a:solidFill>
                <a:latin typeface="Arial"/>
              </a:rPr>
              <a:t>l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models — trained entirely by </a:t>
            </a:r>
            <a:r>
              <a:rPr sz="819" b="0" i="0" dirty="0" err="1">
                <a:solidFill>
                  <a:srgbClr val="1E4768"/>
                </a:solidFill>
                <a:latin typeface="Arial"/>
              </a:rPr>
              <a:t>Postie’s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</a:t>
            </a:r>
            <a:r>
              <a:rPr lang="en-US" sz="819" dirty="0">
                <a:solidFill>
                  <a:srgbClr val="1E4768"/>
                </a:solidFill>
                <a:latin typeface="Arial"/>
              </a:rPr>
              <a:t>generalized data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on broad behavioral signals — delivered dramatically higher </a:t>
            </a:r>
            <a:r>
              <a:rPr sz="819" b="0" i="0" dirty="0" err="1">
                <a:solidFill>
                  <a:srgbClr val="1E4768"/>
                </a:solidFill>
                <a:latin typeface="Arial"/>
              </a:rPr>
              <a:t>iROAS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across all three configurations. The best Gen</a:t>
            </a:r>
            <a:r>
              <a:rPr lang="en-US" sz="819" b="0" i="0" dirty="0">
                <a:solidFill>
                  <a:srgbClr val="1E4768"/>
                </a:solidFill>
                <a:latin typeface="Arial"/>
              </a:rPr>
              <a:t>eral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model (182) achieved 27.0x </a:t>
            </a:r>
            <a:r>
              <a:rPr sz="819" b="0" i="0" dirty="0" err="1">
                <a:solidFill>
                  <a:srgbClr val="1E4768"/>
                </a:solidFill>
                <a:latin typeface="Arial"/>
              </a:rPr>
              <a:t>iROAS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vs. the worst Client model at -0.4x.
Client models, trained on </a:t>
            </a:r>
            <a:r>
              <a:rPr lang="en-US" sz="819" b="0" i="0" dirty="0">
                <a:solidFill>
                  <a:srgbClr val="1E4768"/>
                </a:solidFill>
                <a:latin typeface="Arial"/>
              </a:rPr>
              <a:t>CGPO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historical mailing data, underperformed significantly. This is a common pattern: when past data reflects conservative send strategies, training on it can anchor the model to those same conservative patterns — making it harder to find net-new incremental buyers.
The Gen</a:t>
            </a:r>
            <a:r>
              <a:rPr lang="en-US" sz="819" b="0" i="0" dirty="0">
                <a:solidFill>
                  <a:srgbClr val="1E4768"/>
                </a:solidFill>
                <a:latin typeface="Arial"/>
              </a:rPr>
              <a:t>eral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model advantage here is not just about lift percentage. Gen</a:t>
            </a:r>
            <a:r>
              <a:rPr lang="en-US" sz="819" b="0" i="0" dirty="0">
                <a:solidFill>
                  <a:srgbClr val="1E4768"/>
                </a:solidFill>
                <a:latin typeface="Arial"/>
              </a:rPr>
              <a:t>eral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Model 182 achieved a meaningful AOV premium over the holdout, compounding the revenue effect. 
Recommendation: scale Gen</a:t>
            </a:r>
            <a:r>
              <a:rPr lang="en-US" sz="819" b="0" i="0" dirty="0">
                <a:solidFill>
                  <a:srgbClr val="1E4768"/>
                </a:solidFill>
                <a:latin typeface="Arial"/>
              </a:rPr>
              <a:t>eral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model configurations in future campaigns and use Client models as a benchmark to measure how much </a:t>
            </a:r>
            <a:r>
              <a:rPr lang="en-US" sz="819" b="0" i="0" dirty="0">
                <a:solidFill>
                  <a:srgbClr val="1E4768"/>
                </a:solidFill>
                <a:latin typeface="Arial"/>
              </a:rPr>
              <a:t>CRM Optimization 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exceeds the historical baseline.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6228" y="4041648"/>
            <a:ext cx="5500116" cy="256032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2804" y="4078224"/>
            <a:ext cx="54269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Campaign Examples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96228" y="4297680"/>
            <a:ext cx="5500116" cy="27432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2804" y="4315968"/>
            <a:ext cx="54269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Best:  Gen Model 182 (4E·20K·5S) — +105.5% CVR lift, +14% AOV advantage → 27.0x iROAS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96228" y="4572000"/>
            <a:ext cx="5500116" cy="29260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32804" y="4590288"/>
            <a:ext cx="54269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4768"/>
                </a:solidFill>
                <a:latin typeface="Arial"/>
              </a:rPr>
              <a:t>Cautionary:  Client Model 329 (2E·20K·10S) — -35.8% CVR lift, despite +30.6% AOV → -0.4x iROAS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778</Words>
  <Application>Microsoft Macintosh PowerPoint</Application>
  <PresentationFormat>Custom</PresentationFormat>
  <Paragraphs>89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Tara Donavanik</cp:lastModifiedBy>
  <cp:revision>2</cp:revision>
  <dcterms:created xsi:type="dcterms:W3CDTF">2013-01-27T09:14:16Z</dcterms:created>
  <dcterms:modified xsi:type="dcterms:W3CDTF">2026-10-07T21:32:34Z</dcterms:modified>
  <cp:category/>
</cp:coreProperties>
</file>